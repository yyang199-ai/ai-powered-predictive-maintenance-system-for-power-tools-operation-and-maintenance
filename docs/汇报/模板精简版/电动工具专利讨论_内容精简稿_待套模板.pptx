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1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次主要汇报研究理解、现有技术比较、软件与公开数据预验证，再讨论下一步方案。第一实施例仍先聚焦电钻轴承；公开轴承数据来自试验台，不是自己的电钻采集。项目尚未申请专利，也未完成实物平台和MCU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保持原有章节顺序：先讲问题与整体思路，再介绍数据和算法，明确哪些属于基础、哪些拟继续研究，最后展示当前结果并请老师帮助确定范围与资源。不另设公式或指标备查页。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任务书原范围包括多类工具和部件，已约定先做电钻轴承。识别≥92%、RUL误差≤15%、算力下降70%、MCU≤100 ms及提前3—7天提醒都是目标，不是已完成指标。当前公开数据模型用于故障分类，多模态与RUL输出仍以仿真为主。</a:t>
            </a:r>
          </a:p>
          <a:p/>
          <a:p>
            <a:r>
              <a:t>来源：任务书；docs/研发范围与验收.md；docs/phase2/早上先看这里.md。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这页可用四个模块和箭头，不再增加边角解释。公开CWRU只进入振动故障分类模型；NASA IMS提供退化趋势资料，尚未训练真实RUL模型。旧多模态仿真单独使用条件参考、质量门控和Transformer–LSTM，包含状态、模拟HI/RUL及告警工单流程。三条数据路径不能混为一套已验证的真实工具多模态系统。</a:t>
            </a:r>
          </a:p>
          <a:p/>
          <a:p>
            <a:r>
              <a:t>来源：predictive/public_data.py、bearing_model.py、lab.py；docs/phase2/模型结构与计算过程.md。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电钻使用场景中的待验证问题，不概括为所有现有技术都没有解决。已有研究覆盖工况适应、注意力融合和轴承时序预测；普通注意力的重要性不直接等于采集质量。需要检验校正和质量控制有没有抑制真实故障，同时评价召回、误报、拒绝比例与延迟。</a:t>
            </a:r>
          </a:p>
          <a:p/>
          <a:p>
            <a:r>
              <a:t>来源：P1 CN121385628A，PDF第2—3页权利要求1、8—10；P2 CN121432174A，PDF第2—4页；Guo、Li、古玉锋及张帆相关论文。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CWRU40份文件均与官网独立下载SHA一致；9346窗口来自40条记录，并不是9346个独立轴承。28/8/4按文件划分，窗口数为6625/1894/827；同一人工缺陷轴承仍可能跨负载相关。正常记录按openConMo二级资料采用48 kHz再降至12 kHz，MAT没有采样率字段。</a:t>
            </a:r>
          </a:p>
          <a:p/>
          <a:p>
            <a:r>
              <a:t>CWRU人工缺陷位置和直径不是自然磨损阶段，也不含同步电流、温度和真实寿命。NASA run2来自固定版本第三方镜像，完整984文件核验后得到3936条轴承观测，未与NASA官方原包直接字节核验。其末记录倒计时只是轴承1的终点代理，其他轴承按删失处理。</a:t>
            </a:r>
          </a:p>
          <a:p/>
          <a:p>
            <a:r>
              <a:t>虚拟台覆盖电钻、角磨机和冲击扳手；波形与损伤标签是生成设定，不能写成实物采集。三路处理与公开振动处理分别记录，不对所有模态一概去均值。</a:t>
            </a:r>
          </a:p>
          <a:p/>
          <a:p>
            <a:r>
              <a:t>来源：artifacts/bearing/data/dataset_manifest.json；docs/phase2/第二阶段验收与创新边界.md；docs/phase2/NASA_IMS接入说明.md；docs/phase2/虚拟实验台设计.md。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开数据模型的线性注意力使用ELU＋1正核，不是标准softmax注意力的完全等价替换。轻量1D卷积将1024点变成64个特征位置，输出正常、内圈、滚动体、外圈四类，不含HI/RUL头。纯CNN1004参数，标准/线性注意力均5876参数。参数少、估算MAC少与实际速度是不同指标，CPU结果不等于MCU实测，也没有证明70%算力目标。</a:t>
            </a:r>
          </a:p>
          <a:p/>
          <a:p>
            <a:r>
              <a:t>旧仿真模型使用16步历史和四类模拟阶段/HI/RUL分位数；风险=1−HI不是校准概率。工况参考运行时固定，完整的维修后参考更新和回退仍未实现。</a:t>
            </a:r>
          </a:p>
          <a:p/>
          <a:p>
            <a:r>
              <a:t>来源：predictive/bearing_model.py、model.py；scripts/train_bearing.py；artifacts/bearing/manifest.json。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原19份PDF去重后18项；6份均为申请公开文本，不是授权证明。送审稿新增14条线索仍待独立题录与原文核验，优先R1—R4同对象电动工具方案；尚未完成全面数据库查新，不给出正式机构结论或授权承诺。</a:t>
            </a:r>
          </a:p>
          <a:p/>
          <a:p>
            <a:r>
              <a:t>P1已有工况健康参考、质量相关窗长、持续报警及基线重标定；P2已有工艺负载基线/残差；古玉锋论文已有异构模态、残差分支与CBAM，张帆论文已有Transformer–LSTM轴承寿命路线。论文的网络残差不能等同当前条件健康特征残差。</a:t>
            </a:r>
          </a:p>
          <a:p/>
          <a:p>
            <a:r>
              <a:t>候选贡献要写清数据准入的条件、状态变化和协作关系。现有负载跳变主要重置报警累计，没有实现全部暂态历史隔离；维修后独立健康确认、参考验收和版本回退需要实现及验证。</a:t>
            </a:r>
          </a:p>
          <a:p/>
          <a:p>
            <a:r>
              <a:t>来源：docs/research/查新讨论稿/初步查新与创新边界梳理_导师讨论版_20261009.md；docs/research/论文综述/电动工具预测性维护_论文综述_精简讨论版_20261009.md。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默认模型由验证集规则选择为CNN＋线性注意力，主测试准确率81.38%，宏F1为68.89%，正常类召回4.24%。验证集98.36%不能作为最终测试表现；旧仿真95.64%也不能替代公开实测结果。正常误判严重，当前用于研究预验证，不应作为可靠工具维护诊断。</a:t>
            </a:r>
          </a:p>
          <a:p/>
          <a:p>
            <a:r>
              <a:t>主测试只有4条记录，窗口相关且物理轴承可能共享。完整负载3留出补充协议约90.13%，不与主协议混写。NASA仅显示趋势并建立代理终点，没有完成真实RUL训练。类别softmax仅为未校准分数，不称故障概率。</a:t>
            </a:r>
          </a:p>
          <a:p/>
          <a:p>
            <a:r>
              <a:t>如果插入截图，建议只保留一个当前Demo画面或一张主测试混淆矩阵，避免在页面堆放三个模块的按钮说明。关键数值正文必须标为测试结果，不能以隐藏备注弥补正文的“已达标”。</a:t>
            </a:r>
          </a:p>
          <a:p/>
          <a:p>
            <a:r>
              <a:t>来源：artifacts/bearing/manifest.json；docs/phase2/公开轴承模型实验报告.md；docs/phase2/交付验证记录_20261009.json。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条是已完成软件工作，后三条是实物计划，尚未采购或搭建。振动优先IEPE加速度计；电流需隔离和足够频带；温度结合环境测点；转速与扭矩提供独立工况依据。初选采样率必须核对故障频带、驱动PWM、传感器及抗混叠，不能把虚拟台默认25.6 kHz视为最终硬件验收。</a:t>
            </a:r>
          </a:p>
          <a:p/>
          <a:p>
            <a:r>
              <a:t>先采健康与负载切换，再做可独立确认的损伤，并按工具/部件留出测试；完整寿命实验另需失效终点及持续试验。若电钻难拆检，先在可换轴承台架验证机制，再验证电钻迁移。</a:t>
            </a:r>
          </a:p>
          <a:p/>
          <a:p>
            <a:r>
              <a:t>来源：docs/phase2/虚拟实验台设计.md；docs/汇报/研究梳理版/硬件选型与实验平台初步方案_20261009.md。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希望讨论后确定一个第一实施例、一条主要研究机制和能获得的实验资源。下一步优先取得同对象近邻全文，改善真实公开数据的正常误判，再把准入条件及同模型消融写清楚，接入自有工具采集。先保证真实状态验证有依据，再按数据条件扩展RUL和MCU部署。技术交底分清已有实现、拟实现与实验支持，不因Demo可运行就认为创新或指标已完成。</a:t>
            </a:r>
          </a:p>
          <a:p/>
          <a:p>
            <a:r>
              <a:t>来源：查新讨论稿、第二阶段验收与创新边界、公开轴承模型实验报告。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920240"/>
            <a:ext cx="1014984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4100" b="1">
                <a:solidFill>
                  <a:srgbClr val="15334A"/>
                </a:solidFill>
                <a:latin typeface="Noto Sans CJK SC"/>
                <a:ea typeface="Noto Sans CJK SC"/>
              </a:rPr>
              <a:t>AI预测性维护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4100" b="1">
                <a:solidFill>
                  <a:srgbClr val="15334A"/>
                </a:solidFill>
                <a:latin typeface="Noto Sans CJK SC"/>
                <a:ea typeface="Noto Sans CJK SC"/>
              </a:rPr>
              <a:t>电动工具运维系统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3950208"/>
            <a:ext cx="101498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147E84"/>
                </a:solidFill>
                <a:latin typeface="Noto Sans CJK SC"/>
                <a:ea typeface="Noto Sans CJK SC"/>
              </a:rPr>
              <a:t>专利研究进展与技术方案讨论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38912"/>
            <a:ext cx="10744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5334A"/>
                </a:solidFill>
                <a:latin typeface="Noto Sans CJK SC"/>
                <a:ea typeface="Noto Sans CJK SC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63040"/>
            <a:ext cx="10652760" cy="91440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9436" cy="914400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1536192"/>
            <a:ext cx="1004011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243E50"/>
                </a:solidFill>
                <a:latin typeface="Noto Sans CJK SC"/>
                <a:ea typeface="Noto Sans CJK SC"/>
              </a:rPr>
              <a:t>研究背景与整体架构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78608"/>
            <a:ext cx="10652760" cy="91440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578608"/>
            <a:ext cx="59436" cy="914400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2651760"/>
            <a:ext cx="1004011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243E50"/>
                </a:solidFill>
                <a:latin typeface="Noto Sans CJK SC"/>
                <a:ea typeface="Noto Sans CJK SC"/>
              </a:rPr>
              <a:t>技术痛点与创新边界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694176"/>
            <a:ext cx="10652760" cy="91440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694176"/>
            <a:ext cx="59436" cy="914400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767328"/>
            <a:ext cx="1004011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243E50"/>
                </a:solidFill>
                <a:latin typeface="Noto Sans CJK SC"/>
                <a:ea typeface="Noto Sans CJK SC"/>
              </a:rPr>
              <a:t>数据、算法与实验Demo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809744"/>
            <a:ext cx="10652760" cy="91440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809744"/>
            <a:ext cx="59436" cy="914400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4882896"/>
            <a:ext cx="1004011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243E50"/>
                </a:solidFill>
                <a:latin typeface="Noto Sans CJK SC"/>
                <a:ea typeface="Noto Sans CJK SC"/>
              </a:rPr>
              <a:t>平台方案与讨论问题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38912"/>
            <a:ext cx="10744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5334A"/>
                </a:solidFill>
                <a:latin typeface="Noto Sans CJK SC"/>
                <a:ea typeface="Noto Sans CJK SC"/>
              </a:rPr>
              <a:t>研究背景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45920"/>
            <a:ext cx="10652760" cy="1042415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59436" cy="1042415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1719072"/>
            <a:ext cx="10040112" cy="896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243E50"/>
                </a:solidFill>
                <a:latin typeface="Noto Sans CJK SC"/>
                <a:ea typeface="Noto Sans CJK SC"/>
              </a:rPr>
              <a:t>电动工具部件退化可能造成停机和维护成本增加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962656"/>
            <a:ext cx="10652760" cy="1042415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962656"/>
            <a:ext cx="59436" cy="1042415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3035808"/>
            <a:ext cx="10040112" cy="896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243E50"/>
                </a:solidFill>
                <a:latin typeface="Noto Sans CJK SC"/>
                <a:ea typeface="Noto Sans CJK SC"/>
              </a:rPr>
              <a:t>希望利用多源信号识别状态并提供维护提醒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279392"/>
            <a:ext cx="10652760" cy="1042415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4279392"/>
            <a:ext cx="59436" cy="1042415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4352544"/>
            <a:ext cx="10040112" cy="896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243E50"/>
                </a:solidFill>
                <a:latin typeface="Noto Sans CJK SC"/>
                <a:ea typeface="Noto Sans CJK SC"/>
              </a:rPr>
              <a:t>第一实施例先聚焦电钻轴承，当前开展公开数据预验证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38912"/>
            <a:ext cx="10744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5334A"/>
                </a:solidFill>
                <a:latin typeface="Noto Sans CJK SC"/>
                <a:ea typeface="Noto Sans CJK SC"/>
              </a:rPr>
              <a:t>技术方案的整体架构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606040"/>
            <a:ext cx="2416302" cy="141732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223342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</a:rPr>
              <a:t>数据输入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</a:rPr>
              <a:t>公开／仿真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16402" y="2999232"/>
            <a:ext cx="28346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47E84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2726" y="2606040"/>
            <a:ext cx="2416302" cy="141732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4166" y="2697480"/>
            <a:ext cx="223342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</a:rPr>
              <a:t>信号处理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</a:rPr>
              <a:t>降噪／特征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61888" y="2999232"/>
            <a:ext cx="28346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47E84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8212" y="2606040"/>
            <a:ext cx="2416302" cy="141732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9651" y="2697480"/>
            <a:ext cx="223342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</a:rPr>
              <a:t>智能分析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</a:rPr>
              <a:t>分类／趋势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7374" y="2999232"/>
            <a:ext cx="28346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47E84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13698" y="2606040"/>
            <a:ext cx="2416302" cy="141732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5138" y="2697480"/>
            <a:ext cx="223342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</a:rPr>
              <a:t>应用层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</a:rPr>
              <a:t>展示／维护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536192"/>
            <a:ext cx="10652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47E84"/>
                </a:solidFill>
                <a:latin typeface="Noto Sans CJK SC"/>
                <a:ea typeface="Noto Sans CJK SC"/>
              </a:rPr>
              <a:t>整体研究路线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81728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0">
                <a:solidFill>
                  <a:srgbClr val="243E50"/>
                </a:solidFill>
                <a:latin typeface="Noto Sans CJK SC"/>
                <a:ea typeface="Noto Sans CJK SC"/>
              </a:rPr>
              <a:t>当前重点：公开数据诊断与软件实验台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38912"/>
            <a:ext cx="10744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5334A"/>
                </a:solidFill>
                <a:latin typeface="Noto Sans CJK SC"/>
                <a:ea typeface="Noto Sans CJK SC"/>
              </a:rPr>
              <a:t>现有技术的痛点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63040"/>
            <a:ext cx="10652760" cy="93268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9436" cy="93268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1536192"/>
            <a:ext cx="1004011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负载与转速变化容易与部件退化混淆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96896"/>
            <a:ext cx="10652760" cy="93268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596896"/>
            <a:ext cx="59436" cy="93268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2670048"/>
            <a:ext cx="1004011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传感器异常可能被误认为机械故障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30752"/>
            <a:ext cx="10652760" cy="93268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730752"/>
            <a:ext cx="59436" cy="93268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803904"/>
            <a:ext cx="1004011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单工况成绩不足以说明跨工具表现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864608"/>
            <a:ext cx="10652760" cy="93268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864608"/>
            <a:ext cx="59436" cy="93268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4937760"/>
            <a:ext cx="1004011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维修后需确认健康状态，避免错误更新参考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38912"/>
            <a:ext cx="10744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5334A"/>
                </a:solidFill>
                <a:latin typeface="Noto Sans CJK SC"/>
                <a:ea typeface="Noto Sans CJK SC"/>
              </a:rPr>
              <a:t>数据采集与预处理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63040"/>
            <a:ext cx="10652760" cy="93268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9436" cy="93268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1536192"/>
            <a:ext cx="1004011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CWRU已取得40份实测文件，形成9346个振动窗口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96896"/>
            <a:ext cx="10652760" cy="93268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596896"/>
            <a:ext cx="59436" cy="93268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2670048"/>
            <a:ext cx="1004011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NASA IMS已取得完整run2，共984次四通道振动快照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30752"/>
            <a:ext cx="10652760" cy="93268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730752"/>
            <a:ext cx="59436" cy="93268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803904"/>
            <a:ext cx="1004011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三类工具虚拟实验台可生成振动、电流和温度波形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864608"/>
            <a:ext cx="10652760" cy="93268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864608"/>
            <a:ext cx="59436" cy="93268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4937760"/>
            <a:ext cx="1004011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公开振动完成去均值、小波降噪，并按记录划分训练、验证和测试集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38912"/>
            <a:ext cx="10744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5334A"/>
                </a:solidFill>
                <a:latin typeface="Noto Sans CJK SC"/>
                <a:ea typeface="Noto Sans CJK SC"/>
              </a:rPr>
              <a:t>算法研发与改进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53312"/>
            <a:ext cx="10652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47E84"/>
                </a:solidFill>
                <a:latin typeface="Noto Sans CJK SC"/>
                <a:ea typeface="Noto Sans CJK SC"/>
              </a:rPr>
              <a:t>公开数据模型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29968"/>
            <a:ext cx="2416302" cy="141732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21408"/>
            <a:ext cx="223342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</a:rPr>
              <a:t>振动窗口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</a:rPr>
              <a:t>1024 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6402" y="2423160"/>
            <a:ext cx="28346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47E84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2726" y="2029968"/>
            <a:ext cx="2416302" cy="141732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4166" y="2121408"/>
            <a:ext cx="223342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</a:rPr>
              <a:t>CNN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</a:rPr>
              <a:t>局部波形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1888" y="2423160"/>
            <a:ext cx="28346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47E84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8212" y="2029968"/>
            <a:ext cx="2416302" cy="141732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9651" y="2121408"/>
            <a:ext cx="223342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</a:rPr>
              <a:t>线性注意力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</a:rPr>
              <a:t>关联信息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7374" y="2423160"/>
            <a:ext cx="28346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47E84"/>
                </a:solidFill>
                <a:latin typeface="Noto Sans CJK SC"/>
                <a:ea typeface="Noto Sans CJK S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13698" y="2029968"/>
            <a:ext cx="2416302" cy="141732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05138" y="2121408"/>
            <a:ext cx="223342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</a:rPr>
              <a:t>四类输出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5334A"/>
                </a:solidFill>
                <a:latin typeface="Noto Sans CJK SC"/>
                <a:ea typeface="Noto Sans CJK SC"/>
              </a:rPr>
              <a:t>故障部位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096512"/>
            <a:ext cx="10652760" cy="832104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96512"/>
            <a:ext cx="59436" cy="832104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5" y="4169664"/>
            <a:ext cx="1004011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公开模型：5876个参数，已完成三种结构对照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111496"/>
            <a:ext cx="10652760" cy="832104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111496"/>
            <a:ext cx="59436" cy="832104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" y="5184648"/>
            <a:ext cx="1004011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旧仿真模型：工况校正＋质量门控＋Transformer–LSTM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38912"/>
            <a:ext cx="10744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5334A"/>
                </a:solidFill>
                <a:latin typeface="Noto Sans CJK SC"/>
                <a:ea typeface="Noto Sans CJK SC"/>
              </a:rPr>
              <a:t>创新边界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63040"/>
            <a:ext cx="10652760" cy="93268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9436" cy="93268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1536192"/>
            <a:ext cx="1004011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已整理6份专利公开文本和12篇去重论文，形成初步技术比较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96896"/>
            <a:ext cx="10652760" cy="93268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596896"/>
            <a:ext cx="59436" cy="93268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2670048"/>
            <a:ext cx="1004011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多源融合、工况处理和Transformer–LSTM已有研究基础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30752"/>
            <a:ext cx="10652760" cy="93268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730752"/>
            <a:ext cx="59436" cy="93268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803904"/>
            <a:ext cx="1004011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拟重点研究工况与质量共同控制退化证据准入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864608"/>
            <a:ext cx="10652760" cy="93268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864608"/>
            <a:ext cx="59436" cy="93268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4937760"/>
            <a:ext cx="1004011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维修后健康参考验证与回退作为后续候选方向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38912"/>
            <a:ext cx="10744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5334A"/>
                </a:solidFill>
                <a:latin typeface="Noto Sans CJK SC"/>
                <a:ea typeface="Noto Sans CJK SC"/>
              </a:rPr>
              <a:t>实验验证Demo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54480"/>
            <a:ext cx="10652760" cy="96012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554480"/>
            <a:ext cx="59436" cy="960120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1627632"/>
            <a:ext cx="10040112" cy="813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243E50"/>
                </a:solidFill>
                <a:latin typeface="Noto Sans CJK SC"/>
                <a:ea typeface="Noto Sans CJK SC"/>
              </a:rPr>
              <a:t>已跑通公开振动分类、虚拟实验台和退化趋势展示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43891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>
                <a:solidFill>
                  <a:srgbClr val="15334A"/>
                </a:solidFill>
                <a:latin typeface="Noto Sans CJK SC"/>
                <a:ea typeface="Noto Sans CJK SC"/>
              </a:rPr>
              <a:t>81.38%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2944368"/>
            <a:ext cx="5166360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>
                <a:solidFill>
                  <a:srgbClr val="243E50"/>
                </a:solidFill>
                <a:latin typeface="Noto Sans CJK SC"/>
                <a:ea typeface="Noto Sans CJK SC"/>
              </a:rPr>
              <a:t>CWRU记录留出测试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0">
                <a:solidFill>
                  <a:srgbClr val="243E50"/>
                </a:solidFill>
                <a:latin typeface="Noto Sans CJK SC"/>
                <a:ea typeface="Noto Sans CJK SC"/>
              </a:rPr>
              <a:t>低于92%的目标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28032"/>
            <a:ext cx="10652760" cy="960120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828032"/>
            <a:ext cx="59436" cy="960120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4901184"/>
            <a:ext cx="10040112" cy="8138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243E50"/>
                </a:solidFill>
                <a:latin typeface="Noto Sans CJK SC"/>
                <a:ea typeface="Noto Sans CJK SC"/>
              </a:rPr>
              <a:t>正常样本误判仍较多，识别与泛化需要继续改进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38912"/>
            <a:ext cx="10744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5334A"/>
                </a:solidFill>
                <a:latin typeface="Noto Sans CJK SC"/>
                <a:ea typeface="Noto Sans CJK SC"/>
              </a:rPr>
              <a:t>实验平台搭建方案设计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63040"/>
            <a:ext cx="10652760" cy="93268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9436" cy="93268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1536192"/>
            <a:ext cx="1004011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三类工具虚拟实验台已完成，可检查波形处理流程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96896"/>
            <a:ext cx="10652760" cy="93268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596896"/>
            <a:ext cx="59436" cy="93268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2670048"/>
            <a:ext cx="1004011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真实平台先选择电钻轴承或可换轴承台架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30752"/>
            <a:ext cx="10652760" cy="93268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730752"/>
            <a:ext cx="59436" cy="93268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803904"/>
            <a:ext cx="1004011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优先借用加速度计、霍尔传感器、热电偶和同步DAQ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864608"/>
            <a:ext cx="10652760" cy="93268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864608"/>
            <a:ext cx="59436" cy="93268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4937760"/>
            <a:ext cx="1004011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拟同步记录转速与负载，并通过独立检查确定损伤标签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38912"/>
            <a:ext cx="107442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5334A"/>
                </a:solidFill>
                <a:latin typeface="Noto Sans CJK SC"/>
                <a:ea typeface="Noto Sans CJK SC"/>
              </a:rPr>
              <a:t>遇到的问题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63040"/>
            <a:ext cx="10652760" cy="97840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59436" cy="97840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1536192"/>
            <a:ext cx="10040112" cy="832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研究范围：先完成状态与趋势，还是立即开展完整寿命实验？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24328"/>
            <a:ext cx="10652760" cy="97840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624328"/>
            <a:ext cx="59436" cy="97840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2697480"/>
            <a:ext cx="10040112" cy="832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创新主线：先研究数据准入，还是同时研究维修后参考恢复？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785616"/>
            <a:ext cx="10652760" cy="97840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785616"/>
            <a:ext cx="59436" cy="97840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3858768"/>
            <a:ext cx="10040112" cy="832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实验资源：能否获得实物工具、同步采集设备和独立损伤标签？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946904"/>
            <a:ext cx="10652760" cy="978408"/>
          </a:xfrm>
          <a:prstGeom prst="rect">
            <a:avLst/>
          </a:prstGeom>
          <a:solidFill>
            <a:srgbClr val="F1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946904"/>
            <a:ext cx="59436" cy="978408"/>
          </a:xfrm>
          <a:prstGeom prst="rect">
            <a:avLst/>
          </a:prstGeom>
          <a:solidFill>
            <a:srgbClr val="14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5020056"/>
            <a:ext cx="10040112" cy="832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>
                <a:solidFill>
                  <a:srgbClr val="243E50"/>
                </a:solidFill>
                <a:latin typeface="Noto Sans CJK SC"/>
                <a:ea typeface="Noto Sans CJK SC"/>
              </a:rPr>
              <a:t>验证安排：如何改进正常样本识别，并开展独立工具测试？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WPS 演示</Application>
  <PresentationFormat>宽屏</PresentationFormat>
  <Paragraphs>22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电动工具专利讨论：内容精简稿（待套模板）</dc:title>
  <dc:creator/>
  <cp:lastModifiedBy>微信用户</cp:lastModifiedBy>
  <cp:revision>5</cp:revision>
  <dcterms:created xsi:type="dcterms:W3CDTF">2023-08-09T12:44:00Z</dcterms:created>
  <dcterms:modified xsi:type="dcterms:W3CDTF">2026-10-08T16:40:41Z</dcterms:modified>
  <dc:subject>11页内容预备稿；尚未套用毕业设计答辩模板</dc:subject>
  <dc:description>上传的模板超过32 MiB传输上限，未读取。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B9F2FB83321145E3BB1E333A1C587A18_12</vt:lpwstr>
  </property>
</Properties>
</file>