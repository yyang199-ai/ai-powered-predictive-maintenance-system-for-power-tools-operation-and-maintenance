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开场约40秒：本次汇报围绕电钻轴承磨损预测性维护。当前已经完成可运行的Python仿真原型、模型对照和维修复测工作流；文献比对提示原来宽泛的网络组合创新表述需要收窄。希望今天确认专利主线与真实验证路径。</a:t>
            </a:r>
          </a:p>
          <a:p/>
          <a:p>
            <a:r>
              <a:t>证据来源：项目代码、仿真实验报告与附件技术比对｜2026-10-08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约45秒：第一版先聚焦电钻内部轴承，不是加工刀具刃口磨损。振动、电流、温升既受磨损影响，也受负载与转速影响。我们希望从多源观测中识别退化，进而形成可追溯的维护闭环。剩余寿命是有效运行时间，不是自然日。</a:t>
            </a:r>
          </a:p>
          <a:p/>
          <a:p>
            <a:r>
              <a:t>证据来源：项目代码、仿真实验报告与附件技术比对｜2026-10-08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约45秒：先把完成情况说清楚。当前已有模拟数据、模型、网页、事件与工单、维修后新运行段复测，还有实验报告和技术交底草稿。硬件采集和维修后基线更新没有完成。后者不是已有功能，而是候选研发主线。</a:t>
            </a:r>
          </a:p>
          <a:p/>
          <a:p>
            <a:r>
              <a:t>证据来源：项目代码、仿真实验报告与附件技术比对｜2026-10-08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约50秒：目前用模拟特征进入系统。健康条件参考消除部分负载和转速影响，质量门控降低低质量通道贡献，再由时序网络输出磨损阶段、健康指数与寿命区间。后续形成持续告警、工单、维修新运行段和模拟复测。复测通过关闭事件，但没有自动学习新健康基线。图中真实传感器接入属于待完成部分。</a:t>
            </a:r>
          </a:p>
          <a:p/>
          <a:p>
            <a:r>
              <a:t>证据来源：项目代码、仿真实验报告与附件技术比对｜2026-10-08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约40秒：网页分为设备健康、告警工单、实验模型三个部分。建议现场演示一分钟：选一台模拟电钻看工况和健康曲线，保存记录，再看告警工单。模拟维修复测不是实际维修成功的证据。如果现场网络或环境不可靠，直接用本页讲功能，不虚构截图。</a:t>
            </a:r>
          </a:p>
          <a:p/>
          <a:p>
            <a:r>
              <a:t>证据来源：项目代码、仿真实验报告与附件技术比对｜2026-10-08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约70秒：30台虚拟设备、6000个一分钟窗口，按设备分成21台训练、6台验证、3台测试，避免设备混用。组合模型准确率95.64%，去掉工况校正为82.35%，提示工况参考值得研究。但单种子、3台测试设备和459个相关序列不证明真实效果。纯LSTM准确率相同，寿命误差更低且参数更少，所以目前不能说Transformer-LSTM一定更优。</a:t>
            </a:r>
          </a:p>
          <a:p/>
          <a:p>
            <a:r>
              <a:t>证据来源：数据：artifacts/experiment_results.json；seed=42，12轮，仿真测试序列459条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约45秒：上传19个PDF，其中两份异步电动机残差注意力论文同题名作者DOI，按一项计数，得到12项论文或学位论文和6项专利申请。核心论文核读方法，专利核读权利要求并检查相关说明书。已经形成证据矩阵，但没有完成全数据库查新。专利A号是公开申请，不是授权状态证明。</a:t>
            </a:r>
          </a:p>
          <a:p/>
          <a:p>
            <a:r>
              <a:t>证据来源：项目代码、仿真实验报告与附件技术比对｜2026-10-08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约65秒：这四项资料最影响创新边界。Transformer-LSTM预测轴承寿命已有；多种电机信号加注意力已有；电机专利已有负载基线、持续跟踪分级报警，绕线设备专利已有负载与摩擦残差分离。这不代表某一篇已公开我们所有特征，但说明简单组合的保护范围不稳。换成电钻对象本身也不自动建立创造性。</a:t>
            </a:r>
          </a:p>
          <a:p/>
          <a:p>
            <a:r>
              <a:t>证据来源：依据：上传PDF对应方法、权利要求及相关说明书；详见证据矩阵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约70秒：这里是候选设计，不是已完成或已证明新颖的机制。针对两个污染问题设置两种准入：一类决定数据是否可用于退化趋势和持续报警，一类决定数据是否有资格学习健康基线。维修记录只触发新运行段，需在可比工况、质量合格和独立健康确认后形成候选参考并验证切换。关键在两种准入如何技术耦合，不能只是增加一个工单步骤。</a:t>
            </a:r>
          </a:p>
          <a:p/>
          <a:p>
            <a:r>
              <a:t>证据来源：项目代码、仿真实验报告与附件技术比对｜2026-10-08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约55秒：目前最大的差距有四类。技术上尚无完整基线生命周期；证据上尚无真实磨损测量；实验上还需要证明在同等召回下误报更少，而不是拒绝更多数据；专利上还要搜索质量感知与维修后自适应的近邻资料。希望老师帮助确认真实台架、磨损标签和范围取舍。</a:t>
            </a:r>
          </a:p>
          <a:p/>
          <a:p>
            <a:r>
              <a:t>证据来源：项目代码、仿真实验报告与附件技术比对｜2026-10-08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约60秒：计划分三步，不作无依据日期承诺。第一步把状态图、公式和准入条件明确并补查新；第二步做仿真消融，控制模型不变，分别加工况、质量、证据准入和维修基线更新；第三步根据台架资源开展真实验证。最重要的指标是在相同故障召回下误报警事件更少、检出延迟可接受，且未成功维修不会污染健康基线。</a:t>
            </a:r>
          </a:p>
          <a:p/>
          <a:p>
            <a:r>
              <a:t>证据来源：项目代码、仿真实验报告与附件技术比对｜2026-10-08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结尾约50秒：我的建议是保留电钻轴承这一明确对象，把工作重心转到质量与工况共同控制的数据准入。希望老师判断其技术贡献是否值得作为专利主线，并帮忙确定台架数据来源。如果真实寿命标签难获取，是否先以故障识别和误报警控制为主，把RUL作为辅助输出。最后确定下一轮是先完善机制实验，还是先补最接近专利检索。</a:t>
            </a:r>
          </a:p>
          <a:p/>
          <a:p>
            <a:r>
              <a:t>证据来源：项目代码、仿真实验报告与附件技术比对｜2026-10-08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备用页：如被问到速度或轻量化，前向P95只含CPU模型计算，不含采集通信存储。INT8仅量化LSTM权重，文件缩小29.42%，但P95变慢，不支持70%算力下降。没有验证3到7天预警。HI不是剩余寿命百分比。不能把这页数据说成真实电钻效果。</a:t>
            </a:r>
          </a:p>
          <a:p/>
          <a:p>
            <a:r>
              <a:t>证据来源：数据：artifacts/experiment_results.json；CPU前向延迟不含采集、特征提取与IO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备用页：提供论文和专利定位。重点专利均为申请公开文本，当前法律状态尚未联网核验。新颖性需要单篇比较全部必要技术特征，创造性还要考虑组合启示，不能简单把多篇材料合起来说整个方案已被一篇公开，也不能因为每篇有区别就保证授权。</a:t>
            </a:r>
          </a:p>
          <a:p/>
          <a:p>
            <a:r>
              <a:t>证据来源：项目代码、仿真实验报告与附件技术比对｜2026-10-08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87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46888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100" b="1">
                <a:solidFill>
                  <a:srgbClr val="087F8C"/>
                </a:solidFill>
                <a:latin typeface="Microsoft YaHei"/>
              </a:defRPr>
            </a:pPr>
            <a:r>
              <a:t>导师讨论 · 2026年10月9日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22376"/>
            <a:ext cx="11109960" cy="6309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2800" b="1">
                <a:solidFill>
                  <a:srgbClr val="13263E"/>
                </a:solidFill>
                <a:latin typeface="Microsoft YaHei"/>
              </a:defRPr>
            </a:pPr>
            <a:r>
              <a:t>电钻 AI 预测性维护：研发进展与专利讨论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382512"/>
            <a:ext cx="11155680" cy="12801"/>
          </a:xfrm>
          <a:prstGeom prst="rect">
            <a:avLst/>
          </a:prstGeom>
          <a:solidFill>
            <a:srgbClr val="DCE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10515600" cy="1920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800" b="0">
                <a:solidFill>
                  <a:srgbClr val="526376"/>
                </a:solidFill>
                <a:latin typeface="Microsoft YaHei"/>
              </a:defRPr>
            </a:pPr>
            <a:r>
              <a:t>项目代码、仿真实验报告与附件技术比对｜2026-10-08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92840" y="6492240"/>
            <a:ext cx="457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000" b="0">
                <a:solidFill>
                  <a:srgbClr val="526376"/>
                </a:solidFill>
                <a:latin typeface="Microsoft YaHei"/>
              </a:defRPr>
            </a:pPr>
            <a: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1645920"/>
            <a:ext cx="1088136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2500" b="1">
                <a:solidFill>
                  <a:srgbClr val="087F8C"/>
                </a:solidFill>
                <a:latin typeface="Microsoft YaHei"/>
              </a:defRPr>
            </a:pPr>
            <a:r>
              <a:t>从可运行的软件原型，走向可验证的技术创新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4360" y="2560320"/>
            <a:ext cx="3547872" cy="1965960"/>
          </a:xfrm>
          <a:prstGeom prst="roundRect">
            <a:avLst>
              <a:gd name="adj" fmla="val 12000"/>
            </a:avLst>
          </a:prstGeom>
          <a:solidFill>
            <a:srgbClr val="F2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94360" y="2560320"/>
            <a:ext cx="54864" cy="1965960"/>
          </a:xfrm>
          <a:prstGeom prst="rect">
            <a:avLst/>
          </a:prstGeom>
          <a:solidFill>
            <a:srgbClr val="087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4672" y="2734056"/>
            <a:ext cx="3127248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900" b="1">
                <a:solidFill>
                  <a:srgbClr val="087F8C"/>
                </a:solidFill>
                <a:latin typeface="Microsoft YaHei"/>
              </a:defRPr>
            </a:pPr>
            <a:r>
              <a:t>已完成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4672" y="3310127"/>
            <a:ext cx="3127248" cy="10789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700" b="0">
                <a:solidFill>
                  <a:srgbClr val="526376"/>
                </a:solidFill>
                <a:latin typeface="Microsoft YaHei"/>
              </a:defRPr>
            </a:pPr>
            <a:r>
              <a:t>软件仿真闭环</a:t>
            </a:r>
          </a:p>
          <a:p>
            <a:pPr>
              <a:spcAft>
                <a:spcPts val="500"/>
              </a:spcAft>
              <a:defRPr sz="1700" b="0">
                <a:solidFill>
                  <a:srgbClr val="526376"/>
                </a:solidFill>
                <a:latin typeface="Microsoft YaHei"/>
              </a:defRPr>
            </a:pPr>
            <a:r>
              <a:t>模型对照实验</a:t>
            </a:r>
          </a:p>
          <a:p>
            <a:pPr>
              <a:spcAft>
                <a:spcPts val="500"/>
              </a:spcAft>
              <a:defRPr sz="1700" b="0">
                <a:solidFill>
                  <a:srgbClr val="526376"/>
                </a:solidFill>
                <a:latin typeface="Microsoft YaHei"/>
              </a:defRPr>
            </a:pPr>
            <a:r>
              <a:t>18项资料技术比对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25112" y="2560320"/>
            <a:ext cx="3547872" cy="1965960"/>
          </a:xfrm>
          <a:prstGeom prst="roundRect">
            <a:avLst>
              <a:gd name="adj" fmla="val 12000"/>
            </a:avLst>
          </a:prstGeom>
          <a:solidFill>
            <a:srgbClr val="F2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25112" y="2560320"/>
            <a:ext cx="54864" cy="1965960"/>
          </a:xfrm>
          <a:prstGeom prst="rect">
            <a:avLst/>
          </a:prstGeom>
          <a:solidFill>
            <a:srgbClr val="B67A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35424" y="2734056"/>
            <a:ext cx="3127248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900" b="1">
                <a:solidFill>
                  <a:srgbClr val="B67A17"/>
                </a:solidFill>
                <a:latin typeface="Microsoft YaHei"/>
              </a:defRPr>
            </a:pPr>
            <a:r>
              <a:t>当前判断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35424" y="3310127"/>
            <a:ext cx="3127248" cy="10789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700" b="0">
                <a:solidFill>
                  <a:srgbClr val="526376"/>
                </a:solidFill>
                <a:latin typeface="Microsoft YaHei"/>
              </a:defRPr>
            </a:pPr>
            <a:r>
              <a:t>网络组合不是主要创新</a:t>
            </a:r>
          </a:p>
          <a:p>
            <a:pPr>
              <a:spcAft>
                <a:spcPts val="500"/>
              </a:spcAft>
              <a:defRPr sz="1700" b="0">
                <a:solidFill>
                  <a:srgbClr val="526376"/>
                </a:solidFill>
                <a:latin typeface="Microsoft YaHei"/>
              </a:defRPr>
            </a:pPr>
            <a:r>
              <a:t>转向证据与基线准入</a:t>
            </a:r>
          </a:p>
          <a:p>
            <a:pPr>
              <a:spcAft>
                <a:spcPts val="500"/>
              </a:spcAft>
              <a:defRPr sz="1700" b="0">
                <a:solidFill>
                  <a:srgbClr val="526376"/>
                </a:solidFill>
                <a:latin typeface="Microsoft YaHei"/>
              </a:defRPr>
            </a:pPr>
            <a:r>
              <a:t>完整机制仍需研发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55864" y="2560320"/>
            <a:ext cx="3547872" cy="1965960"/>
          </a:xfrm>
          <a:prstGeom prst="roundRect">
            <a:avLst>
              <a:gd name="adj" fmla="val 12000"/>
            </a:avLst>
          </a:prstGeom>
          <a:solidFill>
            <a:srgbClr val="F2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55864" y="2560320"/>
            <a:ext cx="54864" cy="1965960"/>
          </a:xfrm>
          <a:prstGeom prst="rect">
            <a:avLst/>
          </a:prstGeom>
          <a:solidFill>
            <a:srgbClr val="087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66176" y="2734056"/>
            <a:ext cx="3127248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900" b="1">
                <a:solidFill>
                  <a:srgbClr val="087F8C"/>
                </a:solidFill>
                <a:latin typeface="Microsoft YaHei"/>
              </a:defRPr>
            </a:pPr>
            <a:r>
              <a:t>希望讨论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66176" y="3310127"/>
            <a:ext cx="3127248" cy="10789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700" b="0">
                <a:solidFill>
                  <a:srgbClr val="526376"/>
                </a:solidFill>
                <a:latin typeface="Microsoft YaHei"/>
              </a:defRPr>
            </a:pPr>
            <a:r>
              <a:t>创新主线是否成立</a:t>
            </a:r>
          </a:p>
          <a:p>
            <a:pPr>
              <a:spcAft>
                <a:spcPts val="500"/>
              </a:spcAft>
              <a:defRPr sz="1700" b="0">
                <a:solidFill>
                  <a:srgbClr val="526376"/>
                </a:solidFill>
                <a:latin typeface="Microsoft YaHei"/>
              </a:defRPr>
            </a:pPr>
            <a:r>
              <a:t>台架与数据是否可用</a:t>
            </a:r>
          </a:p>
          <a:p>
            <a:pPr>
              <a:spcAft>
                <a:spcPts val="500"/>
              </a:spcAft>
              <a:defRPr sz="1700" b="0">
                <a:solidFill>
                  <a:srgbClr val="526376"/>
                </a:solidFill>
                <a:latin typeface="Microsoft YaHei"/>
              </a:defRPr>
            </a:pPr>
            <a:r>
              <a:t>下一阶段优先事项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02920" y="5614416"/>
            <a:ext cx="11155680" cy="539496"/>
          </a:xfrm>
          <a:prstGeom prst="roundRect">
            <a:avLst>
              <a:gd name="adj" fmla="val 12000"/>
            </a:avLst>
          </a:prstGeom>
          <a:solidFill>
            <a:srgbClr val="087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13232" y="5724144"/>
            <a:ext cx="106984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汇报范围：软件＋仿真实验＋专利方案准备；尚未提交专利申请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87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46888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100" b="1">
                <a:solidFill>
                  <a:srgbClr val="087F8C"/>
                </a:solidFill>
                <a:latin typeface="Microsoft YaHei"/>
              </a:defRPr>
            </a:pPr>
            <a:r>
              <a:t>01 研究目标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22376"/>
            <a:ext cx="11109960" cy="6309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2800" b="1">
                <a:solidFill>
                  <a:srgbClr val="13263E"/>
                </a:solidFill>
                <a:latin typeface="Microsoft YaHei"/>
              </a:defRPr>
            </a:pPr>
            <a:r>
              <a:t>研究对象与问题：避免把工况变化当成磨损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382512"/>
            <a:ext cx="11155680" cy="12801"/>
          </a:xfrm>
          <a:prstGeom prst="rect">
            <a:avLst/>
          </a:prstGeom>
          <a:solidFill>
            <a:srgbClr val="DCE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10515600" cy="1920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800" b="0">
                <a:solidFill>
                  <a:srgbClr val="526376"/>
                </a:solidFill>
                <a:latin typeface="Microsoft YaHei"/>
              </a:defRPr>
            </a:pPr>
            <a:r>
              <a:t>项目代码、仿真实验报告与附件技术比对｜2026-10-08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92840" y="6492240"/>
            <a:ext cx="457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000" b="0">
                <a:solidFill>
                  <a:srgbClr val="526376"/>
                </a:solidFill>
                <a:latin typeface="Microsoft YaHei"/>
              </a:defRPr>
            </a:pPr>
            <a:r>
              <a:t>02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691640"/>
            <a:ext cx="5440680" cy="3520440"/>
          </a:xfrm>
          <a:prstGeom prst="roundRect">
            <a:avLst>
              <a:gd name="adj" fmla="val 12000"/>
            </a:avLst>
          </a:prstGeom>
          <a:solidFill>
            <a:srgbClr val="F2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2920" y="1691640"/>
            <a:ext cx="54864" cy="3520440"/>
          </a:xfrm>
          <a:prstGeom prst="rect">
            <a:avLst/>
          </a:prstGeom>
          <a:solidFill>
            <a:srgbClr val="087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13232" y="1865376"/>
            <a:ext cx="5020056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900" b="1">
                <a:solidFill>
                  <a:srgbClr val="087F8C"/>
                </a:solidFill>
                <a:latin typeface="Microsoft YaHei"/>
              </a:defRPr>
            </a:pPr>
            <a:r>
              <a:t>第一版范围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3232" y="2441448"/>
            <a:ext cx="5020056" cy="2633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700" b="0">
                <a:solidFill>
                  <a:srgbClr val="526376"/>
                </a:solidFill>
                <a:latin typeface="Microsoft YaHei"/>
              </a:defRPr>
            </a:pPr>
            <a:r>
              <a:t>对象：电钻内部轴承磨损</a:t>
            </a:r>
          </a:p>
          <a:p>
            <a:pPr>
              <a:spcAft>
                <a:spcPts val="500"/>
              </a:spcAft>
              <a:defRPr sz="1700" b="0">
                <a:solidFill>
                  <a:srgbClr val="526376"/>
                </a:solidFill>
                <a:latin typeface="Microsoft YaHei"/>
              </a:defRPr>
            </a:pPr>
            <a:r>
              <a:t>输入：振动、电流、温升及工况</a:t>
            </a:r>
          </a:p>
          <a:p>
            <a:pPr>
              <a:spcAft>
                <a:spcPts val="500"/>
              </a:spcAft>
              <a:defRPr sz="1700" b="0">
                <a:solidFill>
                  <a:srgbClr val="526376"/>
                </a:solidFill>
                <a:latin typeface="Microsoft YaHei"/>
              </a:defRPr>
            </a:pPr>
            <a:r>
              <a:t>输出：磨损阶段、健康指数、寿命区间</a:t>
            </a:r>
          </a:p>
          <a:p>
            <a:pPr>
              <a:spcAft>
                <a:spcPts val="500"/>
              </a:spcAft>
              <a:defRPr sz="1700" b="0">
                <a:solidFill>
                  <a:srgbClr val="526376"/>
                </a:solidFill>
                <a:latin typeface="Microsoft YaHei"/>
              </a:defRPr>
            </a:pPr>
            <a:r>
              <a:t>平台：电脑CPU＋Python网页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1691640"/>
            <a:ext cx="5440680" cy="3520440"/>
          </a:xfrm>
          <a:prstGeom prst="roundRect">
            <a:avLst>
              <a:gd name="adj" fmla="val 12000"/>
            </a:avLst>
          </a:prstGeom>
          <a:solidFill>
            <a:srgbClr val="F2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17920" y="1691640"/>
            <a:ext cx="54864" cy="3520440"/>
          </a:xfrm>
          <a:prstGeom prst="rect">
            <a:avLst/>
          </a:prstGeom>
          <a:solidFill>
            <a:srgbClr val="B67A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28232" y="1865376"/>
            <a:ext cx="5020056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900" b="1">
                <a:solidFill>
                  <a:srgbClr val="B67A17"/>
                </a:solidFill>
                <a:latin typeface="Microsoft YaHei"/>
              </a:defRPr>
            </a:pPr>
            <a:r>
              <a:t>需要解决的技术问题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28232" y="2441448"/>
            <a:ext cx="5020056" cy="2633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700" b="0">
                <a:solidFill>
                  <a:srgbClr val="526376"/>
                </a:solidFill>
                <a:latin typeface="Microsoft YaHei"/>
              </a:defRPr>
            </a:pPr>
            <a:r>
              <a:t>负载切换 → 信号变大，可能误报</a:t>
            </a:r>
          </a:p>
          <a:p>
            <a:pPr>
              <a:spcAft>
                <a:spcPts val="500"/>
              </a:spcAft>
              <a:defRPr sz="1700" b="0">
                <a:solidFill>
                  <a:srgbClr val="526376"/>
                </a:solidFill>
                <a:latin typeface="Microsoft YaHei"/>
              </a:defRPr>
            </a:pPr>
            <a:r>
              <a:t>传感器异常 → 融合结果不可信</a:t>
            </a:r>
          </a:p>
          <a:p>
            <a:pPr>
              <a:spcAft>
                <a:spcPts val="500"/>
              </a:spcAft>
              <a:defRPr sz="1700" b="0">
                <a:solidFill>
                  <a:srgbClr val="526376"/>
                </a:solidFill>
                <a:latin typeface="Microsoft YaHei"/>
              </a:defRPr>
            </a:pPr>
            <a:r>
              <a:t>维修未恢复 → 错误学习“健康”基线</a:t>
            </a:r>
          </a:p>
          <a:p>
            <a:pPr>
              <a:spcAft>
                <a:spcPts val="500"/>
              </a:spcAft>
              <a:defRPr sz="1700" b="0">
                <a:solidFill>
                  <a:srgbClr val="526376"/>
                </a:solidFill>
                <a:latin typeface="Microsoft YaHei"/>
              </a:defRPr>
            </a:pPr>
            <a:r>
              <a:t>目标：低误报，并保持故障检出能力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5614416"/>
            <a:ext cx="11155680" cy="539496"/>
          </a:xfrm>
          <a:prstGeom prst="roundRect">
            <a:avLst>
              <a:gd name="adj" fmla="val 12000"/>
            </a:avLst>
          </a:prstGeom>
          <a:solidFill>
            <a:srgbClr val="087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13232" y="5724144"/>
            <a:ext cx="106984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技术关键：区分正常工况变化、观测质量问题与真实退化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87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46888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100" b="1">
                <a:solidFill>
                  <a:srgbClr val="087F8C"/>
                </a:solidFill>
                <a:latin typeface="Microsoft YaHei"/>
              </a:defRPr>
            </a:pPr>
            <a:r>
              <a:t>02 已完成进展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22376"/>
            <a:ext cx="11109960" cy="6309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2800" b="1">
                <a:solidFill>
                  <a:srgbClr val="13263E"/>
                </a:solidFill>
                <a:latin typeface="Microsoft YaHei"/>
              </a:defRPr>
            </a:pPr>
            <a:r>
              <a:t>进展总览：软件闭环已具备，真实验证待开展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382512"/>
            <a:ext cx="11155680" cy="12801"/>
          </a:xfrm>
          <a:prstGeom prst="rect">
            <a:avLst/>
          </a:prstGeom>
          <a:solidFill>
            <a:srgbClr val="DCE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10515600" cy="1920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800" b="0">
                <a:solidFill>
                  <a:srgbClr val="526376"/>
                </a:solidFill>
                <a:latin typeface="Microsoft YaHei"/>
              </a:defRPr>
            </a:pPr>
            <a:r>
              <a:t>项目代码、仿真实验报告与附件技术比对｜2026-10-08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92840" y="6492240"/>
            <a:ext cx="457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000" b="0">
                <a:solidFill>
                  <a:srgbClr val="526376"/>
                </a:solidFill>
                <a:latin typeface="Microsoft YaHei"/>
              </a:defRPr>
            </a:pPr>
            <a:r>
              <a:t>03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645920"/>
            <a:ext cx="3529584" cy="3566160"/>
          </a:xfrm>
          <a:prstGeom prst="roundRect">
            <a:avLst>
              <a:gd name="adj" fmla="val 12000"/>
            </a:avLst>
          </a:prstGeom>
          <a:solidFill>
            <a:srgbClr val="F2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2920" y="1645920"/>
            <a:ext cx="54864" cy="3566160"/>
          </a:xfrm>
          <a:prstGeom prst="rect">
            <a:avLst/>
          </a:prstGeom>
          <a:solidFill>
            <a:srgbClr val="087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13232" y="1819656"/>
            <a:ext cx="31089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900" b="1">
                <a:solidFill>
                  <a:srgbClr val="087F8C"/>
                </a:solidFill>
                <a:latin typeface="Microsoft YaHei"/>
              </a:defRPr>
            </a:pPr>
            <a:r>
              <a:t>已完成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3232" y="2395728"/>
            <a:ext cx="3108960" cy="267919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700" b="0">
                <a:solidFill>
                  <a:srgbClr val="526376"/>
                </a:solidFill>
                <a:latin typeface="Microsoft YaHei"/>
              </a:defRPr>
            </a:pPr>
            <a:r>
              <a:t>多工况仿真数据生成</a:t>
            </a:r>
          </a:p>
          <a:p>
            <a:pPr>
              <a:spcAft>
                <a:spcPts val="500"/>
              </a:spcAft>
              <a:defRPr sz="1700" b="0">
                <a:solidFill>
                  <a:srgbClr val="526376"/>
                </a:solidFill>
                <a:latin typeface="Microsoft YaHei"/>
              </a:defRPr>
            </a:pPr>
            <a:r>
              <a:t>条件基线与质量融合</a:t>
            </a:r>
          </a:p>
          <a:p>
            <a:pPr>
              <a:spcAft>
                <a:spcPts val="500"/>
              </a:spcAft>
              <a:defRPr sz="1700" b="0">
                <a:solidFill>
                  <a:srgbClr val="526376"/>
                </a:solidFill>
                <a:latin typeface="Microsoft YaHei"/>
              </a:defRPr>
            </a:pPr>
            <a:r>
              <a:t>小型时序模型与对照</a:t>
            </a:r>
          </a:p>
          <a:p>
            <a:pPr>
              <a:spcAft>
                <a:spcPts val="500"/>
              </a:spcAft>
              <a:defRPr sz="1700" b="0">
                <a:solidFill>
                  <a:srgbClr val="526376"/>
                </a:solidFill>
                <a:latin typeface="Microsoft YaHei"/>
              </a:defRPr>
            </a:pPr>
            <a:r>
              <a:t>网页、历史、告警工单</a:t>
            </a:r>
          </a:p>
          <a:p>
            <a:pPr>
              <a:spcAft>
                <a:spcPts val="500"/>
              </a:spcAft>
              <a:defRPr sz="1700" b="0">
                <a:solidFill>
                  <a:srgbClr val="526376"/>
                </a:solidFill>
                <a:latin typeface="Microsoft YaHei"/>
              </a:defRPr>
            </a:pPr>
            <a:r>
              <a:t>维修记录与模拟复测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25112" y="1645920"/>
            <a:ext cx="3529584" cy="3566160"/>
          </a:xfrm>
          <a:prstGeom prst="roundRect">
            <a:avLst>
              <a:gd name="adj" fmla="val 12000"/>
            </a:avLst>
          </a:prstGeom>
          <a:solidFill>
            <a:srgbClr val="F2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325112" y="1645920"/>
            <a:ext cx="54864" cy="3566160"/>
          </a:xfrm>
          <a:prstGeom prst="rect">
            <a:avLst/>
          </a:prstGeom>
          <a:solidFill>
            <a:srgbClr val="087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35424" y="1819656"/>
            <a:ext cx="31089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900" b="1">
                <a:solidFill>
                  <a:srgbClr val="087F8C"/>
                </a:solidFill>
                <a:latin typeface="Microsoft YaHei"/>
              </a:defRPr>
            </a:pPr>
            <a:r>
              <a:t>已形成材料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35424" y="2395728"/>
            <a:ext cx="3108960" cy="267919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700" b="0">
                <a:solidFill>
                  <a:srgbClr val="526376"/>
                </a:solidFill>
                <a:latin typeface="Microsoft YaHei"/>
              </a:defRPr>
            </a:pPr>
            <a:r>
              <a:t>可运行项目代码</a:t>
            </a:r>
          </a:p>
          <a:p>
            <a:pPr>
              <a:spcAft>
                <a:spcPts val="500"/>
              </a:spcAft>
              <a:defRPr sz="1700" b="0">
                <a:solidFill>
                  <a:srgbClr val="526376"/>
                </a:solidFill>
                <a:latin typeface="Microsoft YaHei"/>
              </a:defRPr>
            </a:pPr>
            <a:r>
              <a:t>仿真实验报告</a:t>
            </a:r>
          </a:p>
          <a:p>
            <a:pPr>
              <a:spcAft>
                <a:spcPts val="500"/>
              </a:spcAft>
              <a:defRPr sz="1700" b="0">
                <a:solidFill>
                  <a:srgbClr val="526376"/>
                </a:solidFill>
                <a:latin typeface="Microsoft YaHei"/>
              </a:defRPr>
            </a:pPr>
            <a:r>
              <a:t>技术交底草稿</a:t>
            </a:r>
          </a:p>
          <a:p>
            <a:pPr>
              <a:spcAft>
                <a:spcPts val="500"/>
              </a:spcAft>
              <a:defRPr sz="1700" b="0">
                <a:solidFill>
                  <a:srgbClr val="526376"/>
                </a:solidFill>
                <a:latin typeface="Microsoft YaHei"/>
              </a:defRPr>
            </a:pPr>
            <a:r>
              <a:t>创新边界分析报告</a:t>
            </a:r>
          </a:p>
          <a:p>
            <a:pPr>
              <a:spcAft>
                <a:spcPts val="500"/>
              </a:spcAft>
              <a:defRPr sz="1700" b="0">
                <a:solidFill>
                  <a:srgbClr val="526376"/>
                </a:solidFill>
                <a:latin typeface="Microsoft YaHei"/>
              </a:defRPr>
            </a:pPr>
            <a:r>
              <a:t>18项资料证据矩阵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47304" y="1645920"/>
            <a:ext cx="3529584" cy="3566160"/>
          </a:xfrm>
          <a:prstGeom prst="roundRect">
            <a:avLst>
              <a:gd name="adj" fmla="val 12000"/>
            </a:avLst>
          </a:prstGeom>
          <a:solidFill>
            <a:srgbClr val="F2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147304" y="1645920"/>
            <a:ext cx="54864" cy="3566160"/>
          </a:xfrm>
          <a:prstGeom prst="rect">
            <a:avLst/>
          </a:prstGeom>
          <a:solidFill>
            <a:srgbClr val="B67A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57616" y="1819656"/>
            <a:ext cx="31089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900" b="1">
                <a:solidFill>
                  <a:srgbClr val="B67A17"/>
                </a:solidFill>
                <a:latin typeface="Microsoft YaHei"/>
              </a:defRPr>
            </a:pPr>
            <a:r>
              <a:t>尚未完成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57616" y="2395728"/>
            <a:ext cx="3108960" cy="267919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700" b="0">
                <a:solidFill>
                  <a:srgbClr val="526376"/>
                </a:solidFill>
                <a:latin typeface="Microsoft YaHei"/>
              </a:defRPr>
            </a:pPr>
            <a:r>
              <a:t>真实传感器采集与标定</a:t>
            </a:r>
          </a:p>
          <a:p>
            <a:pPr>
              <a:spcAft>
                <a:spcPts val="500"/>
              </a:spcAft>
              <a:defRPr sz="1700" b="0">
                <a:solidFill>
                  <a:srgbClr val="526376"/>
                </a:solidFill>
                <a:latin typeface="Microsoft YaHei"/>
              </a:defRPr>
            </a:pPr>
            <a:r>
              <a:t>真实轴承磨损/寿命标签</a:t>
            </a:r>
          </a:p>
          <a:p>
            <a:pPr>
              <a:spcAft>
                <a:spcPts val="500"/>
              </a:spcAft>
              <a:defRPr sz="1700" b="0">
                <a:solidFill>
                  <a:srgbClr val="526376"/>
                </a:solidFill>
                <a:latin typeface="Microsoft YaHei"/>
              </a:defRPr>
            </a:pPr>
            <a:r>
              <a:t>维修后基线受控更新</a:t>
            </a:r>
          </a:p>
          <a:p>
            <a:pPr>
              <a:spcAft>
                <a:spcPts val="500"/>
              </a:spcAft>
              <a:defRPr sz="1700" b="0">
                <a:solidFill>
                  <a:srgbClr val="526376"/>
                </a:solidFill>
                <a:latin typeface="Microsoft YaHei"/>
              </a:defRPr>
            </a:pPr>
            <a:r>
              <a:t>完整数据库查新</a:t>
            </a:r>
          </a:p>
          <a:p>
            <a:pPr>
              <a:spcAft>
                <a:spcPts val="500"/>
              </a:spcAft>
              <a:defRPr sz="1700" b="0">
                <a:solidFill>
                  <a:srgbClr val="526376"/>
                </a:solidFill>
                <a:latin typeface="Microsoft YaHei"/>
              </a:defRPr>
            </a:pPr>
            <a:r>
              <a:t>正式权利要求与申请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02920" y="5614416"/>
            <a:ext cx="11155680" cy="539496"/>
          </a:xfrm>
          <a:prstGeom prst="roundRect">
            <a:avLst>
              <a:gd name="adj" fmla="val 12000"/>
            </a:avLst>
          </a:prstGeom>
          <a:solidFill>
            <a:srgbClr val="087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13232" y="5724144"/>
            <a:ext cx="106984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现阶段定位：研发原型与申请准备，尚未形成真实现场效果证据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87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46888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100" b="1">
                <a:solidFill>
                  <a:srgbClr val="087F8C"/>
                </a:solidFill>
                <a:latin typeface="Microsoft YaHei"/>
              </a:defRPr>
            </a:pPr>
            <a:r>
              <a:t>03 软件架构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22376"/>
            <a:ext cx="11109960" cy="6309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2800" b="1">
                <a:solidFill>
                  <a:srgbClr val="13263E"/>
                </a:solidFill>
                <a:latin typeface="Microsoft YaHei"/>
              </a:defRPr>
            </a:pPr>
            <a:r>
              <a:t>现有技术路线：从观测到维修复测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382512"/>
            <a:ext cx="11155680" cy="12801"/>
          </a:xfrm>
          <a:prstGeom prst="rect">
            <a:avLst/>
          </a:prstGeom>
          <a:solidFill>
            <a:srgbClr val="DCE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10515600" cy="1920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800" b="0">
                <a:solidFill>
                  <a:srgbClr val="526376"/>
                </a:solidFill>
                <a:latin typeface="Microsoft YaHei"/>
              </a:defRPr>
            </a:pPr>
            <a:r>
              <a:t>项目代码、仿真实验报告与附件技术比对｜2026-10-08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92840" y="6492240"/>
            <a:ext cx="457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000" b="0">
                <a:solidFill>
                  <a:srgbClr val="526376"/>
                </a:solidFill>
                <a:latin typeface="Microsoft YaHei"/>
              </a:defRPr>
            </a:pPr>
            <a:r>
              <a:t>04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874519"/>
            <a:ext cx="2026310" cy="1371600"/>
          </a:xfrm>
          <a:prstGeom prst="roundRect">
            <a:avLst>
              <a:gd name="adj" fmla="val 12000"/>
            </a:avLst>
          </a:prstGeom>
          <a:solidFill>
            <a:srgbClr val="F2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0936" y="2075688"/>
            <a:ext cx="1770278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800" b="1">
                <a:solidFill>
                  <a:srgbClr val="087F8C"/>
                </a:solidFill>
                <a:latin typeface="Microsoft YaHei"/>
              </a:defRPr>
            </a:pPr>
            <a:r>
              <a:t>模拟观测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0936" y="2651760"/>
            <a:ext cx="1770278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400" b="0">
                <a:solidFill>
                  <a:srgbClr val="526376"/>
                </a:solidFill>
                <a:latin typeface="Microsoft YaHei"/>
              </a:defRPr>
            </a:pPr>
            <a:r>
              <a:t>振动/电流/温升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561234" y="2423160"/>
            <a:ext cx="210312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2400" b="1">
                <a:solidFill>
                  <a:srgbClr val="087F8C"/>
                </a:solidFill>
                <a:latin typeface="Microsoft YaHei"/>
              </a:defRPr>
            </a:pPr>
            <a:r>
              <a:t>›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785262" y="1874519"/>
            <a:ext cx="2026310" cy="1371600"/>
          </a:xfrm>
          <a:prstGeom prst="roundRect">
            <a:avLst>
              <a:gd name="adj" fmla="val 12000"/>
            </a:avLst>
          </a:prstGeom>
          <a:solidFill>
            <a:srgbClr val="F2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913278" y="2075688"/>
            <a:ext cx="1770278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800" b="1">
                <a:solidFill>
                  <a:srgbClr val="087F8C"/>
                </a:solidFill>
                <a:latin typeface="Microsoft YaHei"/>
              </a:defRPr>
            </a:pPr>
            <a:r>
              <a:t>条件参考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13278" y="2651760"/>
            <a:ext cx="1770278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400" b="0">
                <a:solidFill>
                  <a:srgbClr val="526376"/>
                </a:solidFill>
                <a:latin typeface="Microsoft YaHei"/>
              </a:defRPr>
            </a:pPr>
            <a:r>
              <a:t>健康基线残差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43576" y="2423160"/>
            <a:ext cx="210312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2400" b="1">
                <a:solidFill>
                  <a:srgbClr val="087F8C"/>
                </a:solidFill>
                <a:latin typeface="Microsoft YaHei"/>
              </a:defRPr>
            </a:pPr>
            <a:r>
              <a:t>›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67604" y="1874519"/>
            <a:ext cx="2026310" cy="1371600"/>
          </a:xfrm>
          <a:prstGeom prst="roundRect">
            <a:avLst>
              <a:gd name="adj" fmla="val 12000"/>
            </a:avLst>
          </a:prstGeom>
          <a:solidFill>
            <a:srgbClr val="F2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195620" y="2075688"/>
            <a:ext cx="1770278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800" b="1">
                <a:solidFill>
                  <a:srgbClr val="087F8C"/>
                </a:solidFill>
                <a:latin typeface="Microsoft YaHei"/>
              </a:defRPr>
            </a:pPr>
            <a:r>
              <a:t>质量融合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195620" y="2651760"/>
            <a:ext cx="1770278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400" b="0">
                <a:solidFill>
                  <a:srgbClr val="526376"/>
                </a:solidFill>
                <a:latin typeface="Microsoft YaHei"/>
              </a:defRPr>
            </a:pPr>
            <a:r>
              <a:t>有效通道加权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25919" y="2423160"/>
            <a:ext cx="210312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2400" b="1">
                <a:solidFill>
                  <a:srgbClr val="087F8C"/>
                </a:solidFill>
                <a:latin typeface="Microsoft YaHei"/>
              </a:defRPr>
            </a:pPr>
            <a:r>
              <a:t>›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49947" y="1874519"/>
            <a:ext cx="2026310" cy="1371600"/>
          </a:xfrm>
          <a:prstGeom prst="roundRect">
            <a:avLst>
              <a:gd name="adj" fmla="val 12000"/>
            </a:avLst>
          </a:prstGeom>
          <a:solidFill>
            <a:srgbClr val="F2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477963" y="2075688"/>
            <a:ext cx="1770278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800" b="1">
                <a:solidFill>
                  <a:srgbClr val="087F8C"/>
                </a:solidFill>
                <a:latin typeface="Microsoft YaHei"/>
              </a:defRPr>
            </a:pPr>
            <a:r>
              <a:t>时序模型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77963" y="2651760"/>
            <a:ext cx="1770278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400" b="0">
                <a:solidFill>
                  <a:srgbClr val="526376"/>
                </a:solidFill>
                <a:latin typeface="Microsoft YaHei"/>
              </a:defRPr>
            </a:pPr>
            <a:r>
              <a:t>Transformer＋LSTM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408261" y="2423160"/>
            <a:ext cx="210312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2400" b="1">
                <a:solidFill>
                  <a:srgbClr val="087F8C"/>
                </a:solidFill>
                <a:latin typeface="Microsoft YaHei"/>
              </a:defRPr>
            </a:pPr>
            <a:r>
              <a:t>›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632289" y="1874519"/>
            <a:ext cx="2026310" cy="1371600"/>
          </a:xfrm>
          <a:prstGeom prst="roundRect">
            <a:avLst>
              <a:gd name="adj" fmla="val 12000"/>
            </a:avLst>
          </a:prstGeom>
          <a:solidFill>
            <a:srgbClr val="F2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760305" y="2075688"/>
            <a:ext cx="1770278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800" b="1">
                <a:solidFill>
                  <a:srgbClr val="087F8C"/>
                </a:solidFill>
                <a:latin typeface="Microsoft YaHei"/>
              </a:defRPr>
            </a:pPr>
            <a:r>
              <a:t>状态输出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760305" y="2651760"/>
            <a:ext cx="1770278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400" b="0">
                <a:solidFill>
                  <a:srgbClr val="526376"/>
                </a:solidFill>
                <a:latin typeface="Microsoft YaHei"/>
              </a:defRPr>
            </a:pPr>
            <a:r>
              <a:t>阶段 / HI / RUL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02920" y="3703320"/>
            <a:ext cx="3547871" cy="1371600"/>
          </a:xfrm>
          <a:prstGeom prst="roundRect">
            <a:avLst>
              <a:gd name="adj" fmla="val 12000"/>
            </a:avLst>
          </a:prstGeom>
          <a:solidFill>
            <a:srgbClr val="F2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30936" y="3904487"/>
            <a:ext cx="3291839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800" b="1">
                <a:solidFill>
                  <a:srgbClr val="087F8C"/>
                </a:solidFill>
                <a:latin typeface="Microsoft YaHei"/>
              </a:defRPr>
            </a:pPr>
            <a:r>
              <a:t>历史与告警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0936" y="4480559"/>
            <a:ext cx="3291839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400" b="0">
                <a:solidFill>
                  <a:srgbClr val="526376"/>
                </a:solidFill>
                <a:latin typeface="Microsoft YaHei"/>
              </a:defRPr>
            </a:pPr>
            <a:r>
              <a:t>持续证据 / 合并事件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082796" y="4251959"/>
            <a:ext cx="210312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2400" b="1">
                <a:solidFill>
                  <a:srgbClr val="087F8C"/>
                </a:solidFill>
                <a:latin typeface="Microsoft YaHei"/>
              </a:defRPr>
            </a:pPr>
            <a:r>
              <a:t>›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306823" y="3703320"/>
            <a:ext cx="3547871" cy="1371600"/>
          </a:xfrm>
          <a:prstGeom prst="roundRect">
            <a:avLst>
              <a:gd name="adj" fmla="val 12000"/>
            </a:avLst>
          </a:prstGeom>
          <a:solidFill>
            <a:srgbClr val="F2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434839" y="3904487"/>
            <a:ext cx="3291839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800" b="1">
                <a:solidFill>
                  <a:srgbClr val="087F8C"/>
                </a:solidFill>
                <a:latin typeface="Microsoft YaHei"/>
              </a:defRPr>
            </a:pPr>
            <a:r>
              <a:t>维修工单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434839" y="4480559"/>
            <a:ext cx="3291839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400" b="0">
                <a:solidFill>
                  <a:srgbClr val="526376"/>
                </a:solidFill>
                <a:latin typeface="Microsoft YaHei"/>
              </a:defRPr>
            </a:pPr>
            <a:r>
              <a:t>记录操作与检查证据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886699" y="4251959"/>
            <a:ext cx="210312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2400" b="1">
                <a:solidFill>
                  <a:srgbClr val="087F8C"/>
                </a:solidFill>
                <a:latin typeface="Microsoft YaHei"/>
              </a:defRPr>
            </a:pPr>
            <a:r>
              <a:t>›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110727" y="3703320"/>
            <a:ext cx="3547871" cy="1371600"/>
          </a:xfrm>
          <a:prstGeom prst="roundRect">
            <a:avLst>
              <a:gd name="adj" fmla="val 12000"/>
            </a:avLst>
          </a:prstGeom>
          <a:solidFill>
            <a:srgbClr val="F2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238744" y="3904487"/>
            <a:ext cx="3291839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800" b="1">
                <a:solidFill>
                  <a:srgbClr val="087F8C"/>
                </a:solidFill>
                <a:latin typeface="Microsoft YaHei"/>
              </a:defRPr>
            </a:pPr>
            <a:r>
              <a:t>新运行段复测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238744" y="4480559"/>
            <a:ext cx="3291839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400" b="0">
                <a:solidFill>
                  <a:srgbClr val="526376"/>
                </a:solidFill>
                <a:latin typeface="Microsoft YaHei"/>
              </a:defRPr>
            </a:pPr>
            <a:r>
              <a:t>同设备 / 稳定 / 低风险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502920" y="5614416"/>
            <a:ext cx="11155680" cy="539496"/>
          </a:xfrm>
          <a:prstGeom prst="roundRect">
            <a:avLst>
              <a:gd name="adj" fmla="val 12000"/>
            </a:avLst>
          </a:prstGeom>
          <a:solidFill>
            <a:srgbClr val="B67A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13232" y="5724144"/>
            <a:ext cx="106984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已跑通模拟维护闭环；真实采集与维修后的健康基线更新仍待实现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87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46888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100" b="1">
                <a:solidFill>
                  <a:srgbClr val="087F8C"/>
                </a:solidFill>
                <a:latin typeface="Microsoft YaHei"/>
              </a:defRPr>
            </a:pPr>
            <a:r>
              <a:t>04 可演示功能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22376"/>
            <a:ext cx="11109960" cy="6309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2800" b="1">
                <a:solidFill>
                  <a:srgbClr val="13263E"/>
                </a:solidFill>
                <a:latin typeface="Microsoft YaHei"/>
              </a:defRPr>
            </a:pPr>
            <a:r>
              <a:t>原型能展示什么：设备健康、告警与处理记录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382512"/>
            <a:ext cx="11155680" cy="12801"/>
          </a:xfrm>
          <a:prstGeom prst="rect">
            <a:avLst/>
          </a:prstGeom>
          <a:solidFill>
            <a:srgbClr val="DCE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10515600" cy="1920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800" b="0">
                <a:solidFill>
                  <a:srgbClr val="526376"/>
                </a:solidFill>
                <a:latin typeface="Microsoft YaHei"/>
              </a:defRPr>
            </a:pPr>
            <a:r>
              <a:t>项目代码、仿真实验报告与附件技术比对｜2026-10-08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92840" y="6492240"/>
            <a:ext cx="457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000" b="0">
                <a:solidFill>
                  <a:srgbClr val="526376"/>
                </a:solidFill>
                <a:latin typeface="Microsoft YaHei"/>
              </a:defRPr>
            </a:pPr>
            <a:r>
              <a:t>05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737360"/>
            <a:ext cx="3529584" cy="3429000"/>
          </a:xfrm>
          <a:prstGeom prst="roundRect">
            <a:avLst>
              <a:gd name="adj" fmla="val 12000"/>
            </a:avLst>
          </a:prstGeom>
          <a:solidFill>
            <a:srgbClr val="F2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2920" y="1737360"/>
            <a:ext cx="54864" cy="3429000"/>
          </a:xfrm>
          <a:prstGeom prst="rect">
            <a:avLst/>
          </a:prstGeom>
          <a:solidFill>
            <a:srgbClr val="087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13232" y="1911095"/>
            <a:ext cx="31089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900" b="1">
                <a:solidFill>
                  <a:srgbClr val="087F8C"/>
                </a:solidFill>
                <a:latin typeface="Microsoft YaHei"/>
              </a:defRPr>
            </a:pPr>
            <a:r>
              <a:t>设备与健康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3232" y="2487168"/>
            <a:ext cx="3108960" cy="2542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700" b="0">
                <a:solidFill>
                  <a:srgbClr val="526376"/>
                </a:solidFill>
                <a:latin typeface="Microsoft YaHei"/>
              </a:defRPr>
            </a:pPr>
            <a:r>
              <a:t>选择模拟设备或导入CSV</a:t>
            </a:r>
          </a:p>
          <a:p>
            <a:pPr>
              <a:spcAft>
                <a:spcPts val="500"/>
              </a:spcAft>
              <a:defRPr sz="1700" b="0">
                <a:solidFill>
                  <a:srgbClr val="526376"/>
                </a:solidFill>
                <a:latin typeface="Microsoft YaHei"/>
              </a:defRPr>
            </a:pPr>
            <a:r>
              <a:t>查看负载、转速与质量</a:t>
            </a:r>
          </a:p>
          <a:p>
            <a:pPr>
              <a:spcAft>
                <a:spcPts val="500"/>
              </a:spcAft>
              <a:defRPr sz="1700" b="0">
                <a:solidFill>
                  <a:srgbClr val="526376"/>
                </a:solidFill>
                <a:latin typeface="Microsoft YaHei"/>
              </a:defRPr>
            </a:pPr>
            <a:r>
              <a:t>查看磨损阶段和健康指数</a:t>
            </a:r>
          </a:p>
          <a:p>
            <a:pPr>
              <a:spcAft>
                <a:spcPts val="500"/>
              </a:spcAft>
              <a:defRPr sz="1700" b="0">
                <a:solidFill>
                  <a:srgbClr val="526376"/>
                </a:solidFill>
                <a:latin typeface="Microsoft YaHei"/>
              </a:defRPr>
            </a:pPr>
            <a:r>
              <a:t>查看条件寿命区间</a:t>
            </a:r>
          </a:p>
          <a:p>
            <a:pPr>
              <a:spcAft>
                <a:spcPts val="500"/>
              </a:spcAft>
              <a:defRPr sz="1700" b="0">
                <a:solidFill>
                  <a:srgbClr val="526376"/>
                </a:solidFill>
                <a:latin typeface="Microsoft YaHei"/>
              </a:defRPr>
            </a:pPr>
            <a:r>
              <a:t>保存历史、导出分析结果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25112" y="1737360"/>
            <a:ext cx="3529584" cy="3429000"/>
          </a:xfrm>
          <a:prstGeom prst="roundRect">
            <a:avLst>
              <a:gd name="adj" fmla="val 12000"/>
            </a:avLst>
          </a:prstGeom>
          <a:solidFill>
            <a:srgbClr val="F2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325112" y="1737360"/>
            <a:ext cx="54864" cy="3429000"/>
          </a:xfrm>
          <a:prstGeom prst="rect">
            <a:avLst/>
          </a:prstGeom>
          <a:solidFill>
            <a:srgbClr val="087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35424" y="1911095"/>
            <a:ext cx="31089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900" b="1">
                <a:solidFill>
                  <a:srgbClr val="087F8C"/>
                </a:solidFill>
                <a:latin typeface="Microsoft YaHei"/>
              </a:defRPr>
            </a:pPr>
            <a:r>
              <a:t>告警与维护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35424" y="2487168"/>
            <a:ext cx="3108960" cy="2542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700" b="0">
                <a:solidFill>
                  <a:srgbClr val="526376"/>
                </a:solidFill>
                <a:latin typeface="Microsoft YaHei"/>
              </a:defRPr>
            </a:pPr>
            <a:r>
              <a:t>持续风险形成告警事件</a:t>
            </a:r>
          </a:p>
          <a:p>
            <a:pPr>
              <a:spcAft>
                <a:spcPts val="500"/>
              </a:spcAft>
              <a:defRPr sz="1700" b="0">
                <a:solidFill>
                  <a:srgbClr val="526376"/>
                </a:solidFill>
                <a:latin typeface="Microsoft YaHei"/>
              </a:defRPr>
            </a:pPr>
            <a:r>
              <a:t>确认收到、创建工单</a:t>
            </a:r>
          </a:p>
          <a:p>
            <a:pPr>
              <a:spcAft>
                <a:spcPts val="500"/>
              </a:spcAft>
              <a:defRPr sz="1700" b="0">
                <a:solidFill>
                  <a:srgbClr val="526376"/>
                </a:solidFill>
                <a:latin typeface="Microsoft YaHei"/>
              </a:defRPr>
            </a:pPr>
            <a:r>
              <a:t>记录检查与维修证据</a:t>
            </a:r>
          </a:p>
          <a:p>
            <a:pPr>
              <a:spcAft>
                <a:spcPts val="500"/>
              </a:spcAft>
              <a:defRPr sz="1700" b="0">
                <a:solidFill>
                  <a:srgbClr val="526376"/>
                </a:solidFill>
                <a:latin typeface="Microsoft YaHei"/>
              </a:defRPr>
            </a:pPr>
            <a:r>
              <a:t>生成新运行段进行复测</a:t>
            </a:r>
          </a:p>
          <a:p>
            <a:pPr>
              <a:spcAft>
                <a:spcPts val="500"/>
              </a:spcAft>
              <a:defRPr sz="1700" b="0">
                <a:solidFill>
                  <a:srgbClr val="526376"/>
                </a:solidFill>
                <a:latin typeface="Microsoft YaHei"/>
              </a:defRPr>
            </a:pPr>
            <a:r>
              <a:t>保留处理与审计记录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47304" y="1737360"/>
            <a:ext cx="3529584" cy="3429000"/>
          </a:xfrm>
          <a:prstGeom prst="roundRect">
            <a:avLst>
              <a:gd name="adj" fmla="val 12000"/>
            </a:avLst>
          </a:prstGeom>
          <a:solidFill>
            <a:srgbClr val="F2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147304" y="1737360"/>
            <a:ext cx="54864" cy="3429000"/>
          </a:xfrm>
          <a:prstGeom prst="rect">
            <a:avLst/>
          </a:prstGeom>
          <a:solidFill>
            <a:srgbClr val="087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57616" y="1911095"/>
            <a:ext cx="31089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900" b="1">
                <a:solidFill>
                  <a:srgbClr val="087F8C"/>
                </a:solidFill>
                <a:latin typeface="Microsoft YaHei"/>
              </a:defRPr>
            </a:pPr>
            <a:r>
              <a:t>实验与模型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57616" y="2487168"/>
            <a:ext cx="3108960" cy="2542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700" b="0">
                <a:solidFill>
                  <a:srgbClr val="526376"/>
                </a:solidFill>
                <a:latin typeface="Microsoft YaHei"/>
              </a:defRPr>
            </a:pPr>
            <a:r>
              <a:t>查看模型版本与数据来源</a:t>
            </a:r>
          </a:p>
          <a:p>
            <a:pPr>
              <a:spcAft>
                <a:spcPts val="500"/>
              </a:spcAft>
              <a:defRPr sz="1700" b="0">
                <a:solidFill>
                  <a:srgbClr val="526376"/>
                </a:solidFill>
                <a:latin typeface="Microsoft YaHei"/>
              </a:defRPr>
            </a:pPr>
            <a:r>
              <a:t>查看对照模型指标</a:t>
            </a:r>
          </a:p>
          <a:p>
            <a:pPr>
              <a:spcAft>
                <a:spcPts val="500"/>
              </a:spcAft>
              <a:defRPr sz="1700" b="0">
                <a:solidFill>
                  <a:srgbClr val="526376"/>
                </a:solidFill>
                <a:latin typeface="Microsoft YaHei"/>
              </a:defRPr>
            </a:pPr>
            <a:r>
              <a:t>查看分类与寿命误差</a:t>
            </a:r>
          </a:p>
          <a:p>
            <a:pPr>
              <a:spcAft>
                <a:spcPts val="500"/>
              </a:spcAft>
              <a:defRPr sz="1700" b="0">
                <a:solidFill>
                  <a:srgbClr val="526376"/>
                </a:solidFill>
                <a:latin typeface="Microsoft YaHei"/>
              </a:defRPr>
            </a:pPr>
            <a:r>
              <a:t>下载实验原始结果</a:t>
            </a:r>
          </a:p>
          <a:p>
            <a:pPr>
              <a:spcAft>
                <a:spcPts val="500"/>
              </a:spcAft>
              <a:defRPr sz="1700" b="0">
                <a:solidFill>
                  <a:srgbClr val="526376"/>
                </a:solidFill>
                <a:latin typeface="Microsoft YaHei"/>
              </a:defRPr>
            </a:pPr>
            <a:r>
              <a:t>保留后续硬件/API接口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02920" y="5614416"/>
            <a:ext cx="11155680" cy="539496"/>
          </a:xfrm>
          <a:prstGeom prst="roundRect">
            <a:avLst>
              <a:gd name="adj" fmla="val 12000"/>
            </a:avLst>
          </a:prstGeom>
          <a:solidFill>
            <a:srgbClr val="087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13232" y="5724144"/>
            <a:ext cx="106984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建议演示顺序：设备曲线 → 告警工单 → 实验对照；所有示例标明“仿真”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87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46888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100" b="1">
                <a:solidFill>
                  <a:srgbClr val="087F8C"/>
                </a:solidFill>
                <a:latin typeface="Microsoft YaHei"/>
              </a:defRPr>
            </a:pPr>
            <a:r>
              <a:t>05 初步实验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22376"/>
            <a:ext cx="11109960" cy="6309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2800" b="1">
                <a:solidFill>
                  <a:srgbClr val="13263E"/>
                </a:solidFill>
                <a:latin typeface="Microsoft YaHei"/>
              </a:defRPr>
            </a:pPr>
            <a:r>
              <a:t>仿真结果：工况校正值得继续验证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382512"/>
            <a:ext cx="11155680" cy="12801"/>
          </a:xfrm>
          <a:prstGeom prst="rect">
            <a:avLst/>
          </a:prstGeom>
          <a:solidFill>
            <a:srgbClr val="DCE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10515600" cy="1920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800" b="0">
                <a:solidFill>
                  <a:srgbClr val="526376"/>
                </a:solidFill>
                <a:latin typeface="Microsoft YaHei"/>
              </a:defRPr>
            </a:pPr>
            <a:r>
              <a:t>数据：artifacts/experiment_results.json；seed=42，12轮，仿真测试序列459条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92840" y="6492240"/>
            <a:ext cx="457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000" b="0">
                <a:solidFill>
                  <a:srgbClr val="526376"/>
                </a:solidFill>
                <a:latin typeface="Microsoft YaHei"/>
              </a:defRPr>
            </a:pPr>
            <a:r>
              <a:t>06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508760"/>
            <a:ext cx="109728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700" b="0">
                <a:solidFill>
                  <a:srgbClr val="526376"/>
                </a:solidFill>
                <a:latin typeface="Microsoft YaHei"/>
              </a:defRPr>
            </a:pPr>
            <a:r>
              <a:t>30台虚拟电钻 · 6000个窗口 · 训练/验证/测试设备 21 / 6 / 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05740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900" b="1">
                <a:solidFill>
                  <a:srgbClr val="13263E"/>
                </a:solidFill>
                <a:latin typeface="Microsoft YaHei"/>
              </a:defRPr>
            </a:pPr>
            <a:r>
              <a:t>四阶段分类准确率（%）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2688336"/>
            <a:ext cx="14630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500" b="0">
                <a:solidFill>
                  <a:srgbClr val="526376"/>
                </a:solidFill>
                <a:latin typeface="Microsoft YaHei"/>
              </a:defRPr>
            </a:pPr>
            <a:r>
              <a:t>组合模型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048256" y="2720340"/>
            <a:ext cx="3886200" cy="237744"/>
          </a:xfrm>
          <a:prstGeom prst="rect">
            <a:avLst/>
          </a:prstGeom>
          <a:solidFill>
            <a:srgbClr val="F2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048256" y="2720340"/>
            <a:ext cx="3716761" cy="237744"/>
          </a:xfrm>
          <a:prstGeom prst="rect">
            <a:avLst/>
          </a:prstGeom>
          <a:solidFill>
            <a:srgbClr val="087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071616" y="2683764"/>
            <a:ext cx="9144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600" b="1">
                <a:solidFill>
                  <a:srgbClr val="087F8C"/>
                </a:solidFill>
                <a:latin typeface="Microsoft YaHei"/>
              </a:defRPr>
            </a:pPr>
            <a:r>
              <a:t>95.64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3227832"/>
            <a:ext cx="14630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500" b="0">
                <a:solidFill>
                  <a:srgbClr val="526376"/>
                </a:solidFill>
                <a:latin typeface="Microsoft YaHei"/>
              </a:defRPr>
            </a:pPr>
            <a:r>
              <a:t>纯LSTM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048256" y="3259836"/>
            <a:ext cx="3886200" cy="237744"/>
          </a:xfrm>
          <a:prstGeom prst="rect">
            <a:avLst/>
          </a:prstGeom>
          <a:solidFill>
            <a:srgbClr val="F2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048256" y="3259836"/>
            <a:ext cx="3716761" cy="237744"/>
          </a:xfrm>
          <a:prstGeom prst="rect">
            <a:avLst/>
          </a:prstGeom>
          <a:solidFill>
            <a:srgbClr val="4A70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071616" y="3223260"/>
            <a:ext cx="9144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600" b="1">
                <a:solidFill>
                  <a:srgbClr val="4A708A"/>
                </a:solidFill>
                <a:latin typeface="Microsoft YaHei"/>
              </a:defRPr>
            </a:pPr>
            <a:r>
              <a:t>95.64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3767328"/>
            <a:ext cx="14630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500" b="0">
                <a:solidFill>
                  <a:srgbClr val="526376"/>
                </a:solidFill>
                <a:latin typeface="Microsoft YaHei"/>
              </a:defRPr>
            </a:pPr>
            <a:r>
              <a:t>固定融合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048256" y="3799332"/>
            <a:ext cx="3886200" cy="237744"/>
          </a:xfrm>
          <a:prstGeom prst="rect">
            <a:avLst/>
          </a:prstGeom>
          <a:solidFill>
            <a:srgbClr val="F2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048256" y="3799332"/>
            <a:ext cx="3674402" cy="237744"/>
          </a:xfrm>
          <a:prstGeom prst="rect">
            <a:avLst/>
          </a:prstGeom>
          <a:solidFill>
            <a:srgbClr val="7094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071616" y="3762756"/>
            <a:ext cx="9144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600" b="1">
                <a:solidFill>
                  <a:srgbClr val="70949E"/>
                </a:solidFill>
                <a:latin typeface="Microsoft YaHei"/>
              </a:defRPr>
            </a:pPr>
            <a:r>
              <a:t>94.55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4306824"/>
            <a:ext cx="14630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500" b="0">
                <a:solidFill>
                  <a:srgbClr val="526376"/>
                </a:solidFill>
                <a:latin typeface="Microsoft YaHei"/>
              </a:defRPr>
            </a:pPr>
            <a:r>
              <a:t>无工况校正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048256" y="4338828"/>
            <a:ext cx="3886200" cy="237744"/>
          </a:xfrm>
          <a:prstGeom prst="rect">
            <a:avLst/>
          </a:prstGeom>
          <a:solidFill>
            <a:srgbClr val="F2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2048256" y="4338828"/>
            <a:ext cx="3200285" cy="237744"/>
          </a:xfrm>
          <a:prstGeom prst="rect">
            <a:avLst/>
          </a:prstGeom>
          <a:solidFill>
            <a:srgbClr val="B67A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071616" y="4302252"/>
            <a:ext cx="9144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600" b="1">
                <a:solidFill>
                  <a:srgbClr val="B67A17"/>
                </a:solidFill>
                <a:latin typeface="Microsoft YaHei"/>
              </a:defRPr>
            </a:pPr>
            <a:r>
              <a:t>82.35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360920" y="2057400"/>
            <a:ext cx="4297680" cy="1965960"/>
          </a:xfrm>
          <a:prstGeom prst="roundRect">
            <a:avLst>
              <a:gd name="adj" fmla="val 12000"/>
            </a:avLst>
          </a:prstGeom>
          <a:solidFill>
            <a:srgbClr val="F2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360920" y="2057400"/>
            <a:ext cx="54864" cy="1965960"/>
          </a:xfrm>
          <a:prstGeom prst="rect">
            <a:avLst/>
          </a:prstGeom>
          <a:solidFill>
            <a:srgbClr val="087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571232" y="2231136"/>
            <a:ext cx="3877056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900" b="1">
                <a:solidFill>
                  <a:srgbClr val="087F8C"/>
                </a:solidFill>
                <a:latin typeface="Microsoft YaHei"/>
              </a:defRPr>
            </a:pPr>
            <a:r>
              <a:t>RUL平均绝对误差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571232" y="2807208"/>
            <a:ext cx="3877056" cy="10789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700" b="0">
                <a:solidFill>
                  <a:srgbClr val="526376"/>
                </a:solidFill>
                <a:latin typeface="Microsoft YaHei"/>
              </a:defRPr>
            </a:pPr>
            <a:r>
              <a:t>组合模型：0.1633小时</a:t>
            </a:r>
          </a:p>
          <a:p>
            <a:pPr>
              <a:spcAft>
                <a:spcPts val="500"/>
              </a:spcAft>
              <a:defRPr sz="1700" b="0">
                <a:solidFill>
                  <a:srgbClr val="526376"/>
                </a:solidFill>
                <a:latin typeface="Microsoft YaHei"/>
              </a:defRPr>
            </a:pPr>
            <a:r>
              <a:t>纯LSTM：0.1546小时</a:t>
            </a:r>
          </a:p>
          <a:p>
            <a:pPr>
              <a:spcAft>
                <a:spcPts val="500"/>
              </a:spcAft>
              <a:defRPr sz="1700" b="0">
                <a:solidFill>
                  <a:srgbClr val="526376"/>
                </a:solidFill>
                <a:latin typeface="Microsoft YaHei"/>
              </a:defRPr>
            </a:pPr>
            <a:r>
              <a:t>纯LSTM参数更少：9,245 vs 17,789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" y="498348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600" b="0">
                <a:solidFill>
                  <a:srgbClr val="526376"/>
                </a:solidFill>
                <a:latin typeface="Microsoft YaHei"/>
              </a:defRPr>
            </a:pPr>
            <a:r>
              <a:t>局限：单随机种子、3台测试设备、模拟特征；459条序列并非独立实验。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02920" y="5614416"/>
            <a:ext cx="11155680" cy="539496"/>
          </a:xfrm>
          <a:prstGeom prst="roundRect">
            <a:avLst>
              <a:gd name="adj" fmla="val 12000"/>
            </a:avLst>
          </a:prstGeom>
          <a:solidFill>
            <a:srgbClr val="B67A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13232" y="5724144"/>
            <a:ext cx="106984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现有证据支持研究工况校正；尚未证明混合网络优于纯LSTM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87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46888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100" b="1">
                <a:solidFill>
                  <a:srgbClr val="087F8C"/>
                </a:solidFill>
                <a:latin typeface="Microsoft YaHei"/>
              </a:defRPr>
            </a:pPr>
            <a:r>
              <a:t>06 查新与文献梳理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22376"/>
            <a:ext cx="11109960" cy="6309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2800" b="1">
                <a:solidFill>
                  <a:srgbClr val="13263E"/>
                </a:solidFill>
                <a:latin typeface="Microsoft YaHei"/>
              </a:defRPr>
            </a:pPr>
            <a:r>
              <a:t>文献进展：18项资料已用于技术边界比对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382512"/>
            <a:ext cx="11155680" cy="12801"/>
          </a:xfrm>
          <a:prstGeom prst="rect">
            <a:avLst/>
          </a:prstGeom>
          <a:solidFill>
            <a:srgbClr val="DCE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10515600" cy="1920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800" b="0">
                <a:solidFill>
                  <a:srgbClr val="526376"/>
                </a:solidFill>
                <a:latin typeface="Microsoft YaHei"/>
              </a:defRPr>
            </a:pPr>
            <a:r>
              <a:t>项目代码、仿真实验报告与附件技术比对｜2026-10-08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92840" y="6492240"/>
            <a:ext cx="457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000" b="0">
                <a:solidFill>
                  <a:srgbClr val="526376"/>
                </a:solidFill>
                <a:latin typeface="Microsoft YaHei"/>
              </a:defRPr>
            </a:pPr>
            <a:r>
              <a:t>07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691640"/>
            <a:ext cx="3529584" cy="2697480"/>
          </a:xfrm>
          <a:prstGeom prst="roundRect">
            <a:avLst>
              <a:gd name="adj" fmla="val 12000"/>
            </a:avLst>
          </a:prstGeom>
          <a:solidFill>
            <a:srgbClr val="F2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2920" y="1691640"/>
            <a:ext cx="54864" cy="2697480"/>
          </a:xfrm>
          <a:prstGeom prst="rect">
            <a:avLst/>
          </a:prstGeom>
          <a:solidFill>
            <a:srgbClr val="087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13232" y="1865376"/>
            <a:ext cx="31089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900" b="1">
                <a:solidFill>
                  <a:srgbClr val="087F8C"/>
                </a:solidFill>
                <a:latin typeface="Microsoft YaHei"/>
              </a:defRPr>
            </a:pPr>
            <a:r>
              <a:t>资料规模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3232" y="2441448"/>
            <a:ext cx="3108960" cy="18105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700" b="0">
                <a:solidFill>
                  <a:srgbClr val="526376"/>
                </a:solidFill>
                <a:latin typeface="Microsoft YaHei"/>
              </a:defRPr>
            </a:pPr>
            <a:r>
              <a:t>19份PDF → 去重18项</a:t>
            </a:r>
          </a:p>
          <a:p>
            <a:pPr>
              <a:spcAft>
                <a:spcPts val="500"/>
              </a:spcAft>
              <a:defRPr sz="1700" b="0">
                <a:solidFill>
                  <a:srgbClr val="526376"/>
                </a:solidFill>
                <a:latin typeface="Microsoft YaHei"/>
              </a:defRPr>
            </a:pPr>
            <a:r>
              <a:t>12项论文 / 学位论文</a:t>
            </a:r>
          </a:p>
          <a:p>
            <a:pPr>
              <a:spcAft>
                <a:spcPts val="500"/>
              </a:spcAft>
              <a:defRPr sz="1700" b="0">
                <a:solidFill>
                  <a:srgbClr val="526376"/>
                </a:solidFill>
                <a:latin typeface="Microsoft YaHei"/>
              </a:defRPr>
            </a:pPr>
            <a:r>
              <a:t>6项专利申请公开文本</a:t>
            </a:r>
          </a:p>
          <a:p>
            <a:pPr>
              <a:spcAft>
                <a:spcPts val="500"/>
              </a:spcAft>
              <a:defRPr sz="1700" b="0">
                <a:solidFill>
                  <a:srgbClr val="526376"/>
                </a:solidFill>
                <a:latin typeface="Microsoft YaHei"/>
              </a:defRPr>
            </a:pPr>
            <a:r>
              <a:t>保留文件来源与定位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25112" y="1691640"/>
            <a:ext cx="3529584" cy="2697480"/>
          </a:xfrm>
          <a:prstGeom prst="roundRect">
            <a:avLst>
              <a:gd name="adj" fmla="val 12000"/>
            </a:avLst>
          </a:prstGeom>
          <a:solidFill>
            <a:srgbClr val="F2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325112" y="1691640"/>
            <a:ext cx="54864" cy="2697480"/>
          </a:xfrm>
          <a:prstGeom prst="rect">
            <a:avLst/>
          </a:prstGeom>
          <a:solidFill>
            <a:srgbClr val="087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35424" y="1865376"/>
            <a:ext cx="31089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900" b="1">
                <a:solidFill>
                  <a:srgbClr val="087F8C"/>
                </a:solidFill>
                <a:latin typeface="Microsoft YaHei"/>
              </a:defRPr>
            </a:pPr>
            <a:r>
              <a:t>核查内容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35424" y="2441448"/>
            <a:ext cx="3108960" cy="18105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700" b="0">
                <a:solidFill>
                  <a:srgbClr val="526376"/>
                </a:solidFill>
                <a:latin typeface="Microsoft YaHei"/>
              </a:defRPr>
            </a:pPr>
            <a:r>
              <a:t>研究对象与输入信号</a:t>
            </a:r>
          </a:p>
          <a:p>
            <a:pPr>
              <a:spcAft>
                <a:spcPts val="500"/>
              </a:spcAft>
              <a:defRPr sz="1700" b="0">
                <a:solidFill>
                  <a:srgbClr val="526376"/>
                </a:solidFill>
                <a:latin typeface="Microsoft YaHei"/>
              </a:defRPr>
            </a:pPr>
            <a:r>
              <a:t>模型、融合与工况机制</a:t>
            </a:r>
          </a:p>
          <a:p>
            <a:pPr>
              <a:spcAft>
                <a:spcPts val="500"/>
              </a:spcAft>
              <a:defRPr sz="1700" b="0">
                <a:solidFill>
                  <a:srgbClr val="526376"/>
                </a:solidFill>
                <a:latin typeface="Microsoft YaHei"/>
              </a:defRPr>
            </a:pPr>
            <a:r>
              <a:t>专利必要技术特征</a:t>
            </a:r>
          </a:p>
          <a:p>
            <a:pPr>
              <a:spcAft>
                <a:spcPts val="500"/>
              </a:spcAft>
              <a:defRPr sz="1700" b="0">
                <a:solidFill>
                  <a:srgbClr val="526376"/>
                </a:solidFill>
                <a:latin typeface="Microsoft YaHei"/>
              </a:defRPr>
            </a:pPr>
            <a:r>
              <a:t>当前实现与已有方案差别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47304" y="1691640"/>
            <a:ext cx="3529584" cy="2697480"/>
          </a:xfrm>
          <a:prstGeom prst="roundRect">
            <a:avLst>
              <a:gd name="adj" fmla="val 12000"/>
            </a:avLst>
          </a:prstGeom>
          <a:solidFill>
            <a:srgbClr val="F2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147304" y="1691640"/>
            <a:ext cx="54864" cy="2697480"/>
          </a:xfrm>
          <a:prstGeom prst="rect">
            <a:avLst/>
          </a:prstGeom>
          <a:solidFill>
            <a:srgbClr val="B67A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57616" y="1865376"/>
            <a:ext cx="31089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900" b="1">
                <a:solidFill>
                  <a:srgbClr val="B67A17"/>
                </a:solidFill>
                <a:latin typeface="Microsoft YaHei"/>
              </a:defRPr>
            </a:pPr>
            <a:r>
              <a:t>主要发现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57616" y="2441448"/>
            <a:ext cx="3108960" cy="18105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700" b="0">
                <a:solidFill>
                  <a:srgbClr val="526376"/>
                </a:solidFill>
                <a:latin typeface="Microsoft YaHei"/>
              </a:defRPr>
            </a:pPr>
            <a:r>
              <a:t>轴承Transformer-LSTM已有</a:t>
            </a:r>
          </a:p>
          <a:p>
            <a:pPr>
              <a:spcAft>
                <a:spcPts val="500"/>
              </a:spcAft>
              <a:defRPr sz="1700" b="0">
                <a:solidFill>
                  <a:srgbClr val="526376"/>
                </a:solidFill>
                <a:latin typeface="Microsoft YaHei"/>
              </a:defRPr>
            </a:pPr>
            <a:r>
              <a:t>振动/电流/温度融合已有</a:t>
            </a:r>
          </a:p>
          <a:p>
            <a:pPr>
              <a:spcAft>
                <a:spcPts val="500"/>
              </a:spcAft>
              <a:defRPr sz="1700" b="0">
                <a:solidFill>
                  <a:srgbClr val="526376"/>
                </a:solidFill>
                <a:latin typeface="Microsoft YaHei"/>
              </a:defRPr>
            </a:pPr>
            <a:r>
              <a:t>负载基线与动态报警已有</a:t>
            </a:r>
          </a:p>
          <a:p>
            <a:pPr>
              <a:spcAft>
                <a:spcPts val="500"/>
              </a:spcAft>
              <a:defRPr sz="1700" b="0">
                <a:solidFill>
                  <a:srgbClr val="526376"/>
                </a:solidFill>
                <a:latin typeface="Microsoft YaHei"/>
              </a:defRPr>
            </a:pPr>
            <a:r>
              <a:t>应收窄宽泛创新表述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4754880"/>
            <a:ext cx="107899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800" b="0">
                <a:solidFill>
                  <a:srgbClr val="526376"/>
                </a:solidFill>
                <a:latin typeface="Microsoft YaHei"/>
              </a:defRPr>
            </a:pPr>
            <a:r>
              <a:t>下一步应补最接近的材料和法律状态核验，不能只以文献数量衡量查新充分性。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02920" y="5614416"/>
            <a:ext cx="11155680" cy="539496"/>
          </a:xfrm>
          <a:prstGeom prst="roundRect">
            <a:avLst>
              <a:gd name="adj" fmla="val 12000"/>
            </a:avLst>
          </a:prstGeom>
          <a:solidFill>
            <a:srgbClr val="B67A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13232" y="5724144"/>
            <a:ext cx="106984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本次为附件技术比对；数据库全面查新与最终创造性判断仍待完成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87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46888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100" b="1">
                <a:solidFill>
                  <a:srgbClr val="087F8C"/>
                </a:solidFill>
                <a:latin typeface="Microsoft YaHei"/>
              </a:defRPr>
            </a:pPr>
            <a:r>
              <a:t>07 最接近的现有技术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22376"/>
            <a:ext cx="11109960" cy="6309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2800" b="1">
                <a:solidFill>
                  <a:srgbClr val="13263E"/>
                </a:solidFill>
                <a:latin typeface="Microsoft YaHei"/>
              </a:defRPr>
            </a:pPr>
            <a:r>
              <a:t>创新边界：哪些表述已经不够稳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382512"/>
            <a:ext cx="11155680" cy="12801"/>
          </a:xfrm>
          <a:prstGeom prst="rect">
            <a:avLst/>
          </a:prstGeom>
          <a:solidFill>
            <a:srgbClr val="DCE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10515600" cy="1920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800" b="0">
                <a:solidFill>
                  <a:srgbClr val="526376"/>
                </a:solidFill>
                <a:latin typeface="Microsoft YaHei"/>
              </a:defRPr>
            </a:pPr>
            <a:r>
              <a:t>依据：上传PDF对应方法、权利要求及相关说明书；详见证据矩阵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92840" y="6492240"/>
            <a:ext cx="457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000" b="0">
                <a:solidFill>
                  <a:srgbClr val="526376"/>
                </a:solidFill>
                <a:latin typeface="Microsoft YaHei"/>
              </a:defRPr>
            </a:pPr>
            <a:r>
              <a:t>08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1691640"/>
            <a:ext cx="11155680" cy="484632"/>
          </a:xfrm>
          <a:prstGeom prst="rect">
            <a:avLst/>
          </a:prstGeom>
          <a:solidFill>
            <a:srgbClr val="1326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1792224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500" b="1">
                <a:solidFill>
                  <a:srgbClr val="FFFFFF"/>
                </a:solidFill>
                <a:latin typeface="Microsoft YaHei"/>
              </a:defRPr>
            </a:pPr>
            <a:r>
              <a:t>最接近资料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60520" y="1792224"/>
            <a:ext cx="3383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500" b="1">
                <a:solidFill>
                  <a:srgbClr val="FFFFFF"/>
                </a:solidFill>
                <a:latin typeface="Microsoft YaHei"/>
              </a:defRPr>
            </a:pPr>
            <a:r>
              <a:t>已公开机制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18120" y="1792224"/>
            <a:ext cx="3703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500" b="1">
                <a:solidFill>
                  <a:srgbClr val="FFFFFF"/>
                </a:solidFill>
                <a:latin typeface="Microsoft YaHei"/>
              </a:defRPr>
            </a:pPr>
            <a:r>
              <a:t>对拟创新点的影响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2176272"/>
            <a:ext cx="11155680" cy="722376"/>
          </a:xfrm>
          <a:prstGeom prst="rect">
            <a:avLst/>
          </a:prstGeom>
          <a:solidFill>
            <a:srgbClr val="F2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2286000"/>
            <a:ext cx="329184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400" b="0">
                <a:solidFill>
                  <a:srgbClr val="526376"/>
                </a:solidFill>
                <a:latin typeface="Microsoft YaHei"/>
              </a:defRPr>
            </a:pPr>
            <a:r>
              <a:t>Transformer-LSTM轴承寿命</a:t>
            </a:r>
          </a:p>
          <a:p>
            <a:pPr>
              <a:spcAft>
                <a:spcPts val="500"/>
              </a:spcAft>
              <a:defRPr sz="1400" b="0">
                <a:solidFill>
                  <a:srgbClr val="526376"/>
                </a:solidFill>
                <a:latin typeface="Microsoft YaHei"/>
              </a:defRPr>
            </a:pPr>
            <a:r>
              <a:t>张帆等，2024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60520" y="2286000"/>
            <a:ext cx="33832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400" b="0">
                <a:solidFill>
                  <a:srgbClr val="526376"/>
                </a:solidFill>
                <a:latin typeface="Microsoft YaHei"/>
              </a:defRPr>
            </a:pPr>
            <a:r>
              <a:t>Transformer与LSTM结合</a:t>
            </a:r>
          </a:p>
          <a:p>
            <a:pPr>
              <a:spcAft>
                <a:spcPts val="500"/>
              </a:spcAft>
              <a:defRPr sz="1400" b="0">
                <a:solidFill>
                  <a:srgbClr val="526376"/>
                </a:solidFill>
                <a:latin typeface="Microsoft YaHei"/>
              </a:defRPr>
            </a:pPr>
            <a:r>
              <a:t>轴承寿命时序预测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818120" y="2286000"/>
            <a:ext cx="37033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400" b="0">
                <a:solidFill>
                  <a:srgbClr val="526376"/>
                </a:solidFill>
                <a:latin typeface="Microsoft YaHei"/>
              </a:defRPr>
            </a:pPr>
            <a:r>
              <a:t>网络名称组合不宜作为</a:t>
            </a:r>
          </a:p>
          <a:p>
            <a:pPr>
              <a:spcAft>
                <a:spcPts val="500"/>
              </a:spcAft>
              <a:defRPr sz="1400" b="0">
                <a:solidFill>
                  <a:srgbClr val="526376"/>
                </a:solidFill>
                <a:latin typeface="Microsoft YaHei"/>
              </a:defRPr>
            </a:pPr>
            <a:r>
              <a:t>主要新颖点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2898648"/>
            <a:ext cx="11155680" cy="7223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3008376"/>
            <a:ext cx="329184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400" b="0">
                <a:solidFill>
                  <a:srgbClr val="526376"/>
                </a:solidFill>
                <a:latin typeface="Microsoft YaHei"/>
              </a:defRPr>
            </a:pPr>
            <a:r>
              <a:t>多模态残差注意力电机诊断</a:t>
            </a:r>
          </a:p>
          <a:p>
            <a:pPr>
              <a:spcAft>
                <a:spcPts val="500"/>
              </a:spcAft>
              <a:defRPr sz="1400" b="0">
                <a:solidFill>
                  <a:srgbClr val="526376"/>
                </a:solidFill>
                <a:latin typeface="Microsoft YaHei"/>
              </a:defRPr>
            </a:pPr>
            <a:r>
              <a:t>古玉锋等，2026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60520" y="3008376"/>
            <a:ext cx="33832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400" b="0">
                <a:solidFill>
                  <a:srgbClr val="526376"/>
                </a:solidFill>
                <a:latin typeface="Microsoft YaHei"/>
              </a:defRPr>
            </a:pPr>
            <a:r>
              <a:t>振动、电压、电流、温度</a:t>
            </a:r>
          </a:p>
          <a:p>
            <a:pPr>
              <a:spcAft>
                <a:spcPts val="500"/>
              </a:spcAft>
              <a:defRPr sz="1400" b="0">
                <a:solidFill>
                  <a:srgbClr val="526376"/>
                </a:solidFill>
                <a:latin typeface="Microsoft YaHei"/>
              </a:defRPr>
            </a:pPr>
            <a:r>
              <a:t>PCA、残差与CBAM融合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18120" y="3008376"/>
            <a:ext cx="37033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400" b="0">
                <a:solidFill>
                  <a:srgbClr val="526376"/>
                </a:solidFill>
                <a:latin typeface="Microsoft YaHei"/>
              </a:defRPr>
            </a:pPr>
            <a:r>
              <a:t>传感器组合与普通注意力</a:t>
            </a:r>
          </a:p>
          <a:p>
            <a:pPr>
              <a:spcAft>
                <a:spcPts val="500"/>
              </a:spcAft>
              <a:defRPr sz="1400" b="0">
                <a:solidFill>
                  <a:srgbClr val="526376"/>
                </a:solidFill>
                <a:latin typeface="Microsoft YaHei"/>
              </a:defRPr>
            </a:pPr>
            <a:r>
              <a:t>不足以单独支撑创新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2920" y="3621024"/>
            <a:ext cx="11155680" cy="722376"/>
          </a:xfrm>
          <a:prstGeom prst="rect">
            <a:avLst/>
          </a:prstGeom>
          <a:solidFill>
            <a:srgbClr val="F2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3730752"/>
            <a:ext cx="329184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400" b="0">
                <a:solidFill>
                  <a:srgbClr val="526376"/>
                </a:solidFill>
                <a:latin typeface="Microsoft YaHei"/>
              </a:defRPr>
            </a:pPr>
            <a:r>
              <a:t>电机诊断 CN121385628A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160520" y="3730752"/>
            <a:ext cx="33832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400" b="0">
                <a:solidFill>
                  <a:srgbClr val="526376"/>
                </a:solidFill>
                <a:latin typeface="Microsoft YaHei"/>
              </a:defRPr>
            </a:pPr>
            <a:r>
              <a:t>负载健康基线、动态阈值</a:t>
            </a:r>
          </a:p>
          <a:p>
            <a:pPr>
              <a:spcAft>
                <a:spcPts val="500"/>
              </a:spcAft>
              <a:defRPr sz="1400" b="0">
                <a:solidFill>
                  <a:srgbClr val="526376"/>
                </a:solidFill>
                <a:latin typeface="Microsoft YaHei"/>
              </a:defRPr>
            </a:pPr>
            <a:r>
              <a:t>持续确认与分级报警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818120" y="3730752"/>
            <a:ext cx="37033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400" b="0">
                <a:solidFill>
                  <a:srgbClr val="526376"/>
                </a:solidFill>
                <a:latin typeface="Microsoft YaHei"/>
              </a:defRPr>
            </a:pPr>
            <a:r>
              <a:t>工况校正与多窗口报警</a:t>
            </a:r>
          </a:p>
          <a:p>
            <a:pPr>
              <a:spcAft>
                <a:spcPts val="500"/>
              </a:spcAft>
              <a:defRPr sz="1400" b="0">
                <a:solidFill>
                  <a:srgbClr val="526376"/>
                </a:solidFill>
                <a:latin typeface="Microsoft YaHei"/>
              </a:defRPr>
            </a:pPr>
            <a:r>
              <a:t>已有很近的技术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2920" y="4343400"/>
            <a:ext cx="11155680" cy="7223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" y="4453128"/>
            <a:ext cx="329184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400" b="0">
                <a:solidFill>
                  <a:srgbClr val="526376"/>
                </a:solidFill>
                <a:latin typeface="Microsoft YaHei"/>
              </a:defRPr>
            </a:pPr>
            <a:r>
              <a:t>绕线设备 CN121432174A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160520" y="4453128"/>
            <a:ext cx="33832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400" b="0">
                <a:solidFill>
                  <a:srgbClr val="526376"/>
                </a:solidFill>
                <a:latin typeface="Microsoft YaHei"/>
              </a:defRPr>
            </a:pPr>
            <a:r>
              <a:t>工艺负载基线与</a:t>
            </a:r>
          </a:p>
          <a:p>
            <a:pPr>
              <a:spcAft>
                <a:spcPts val="500"/>
              </a:spcAft>
              <a:defRPr sz="1400" b="0">
                <a:solidFill>
                  <a:srgbClr val="526376"/>
                </a:solidFill>
                <a:latin typeface="Microsoft YaHei"/>
              </a:defRPr>
            </a:pPr>
            <a:r>
              <a:t>摩擦扰动残差分离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818120" y="4453128"/>
            <a:ext cx="37033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400" b="0">
                <a:solidFill>
                  <a:srgbClr val="526376"/>
                </a:solidFill>
                <a:latin typeface="Microsoft YaHei"/>
              </a:defRPr>
            </a:pPr>
            <a:r>
              <a:t>一般基线残差思路已有</a:t>
            </a:r>
          </a:p>
          <a:p>
            <a:pPr>
              <a:spcAft>
                <a:spcPts val="500"/>
              </a:spcAft>
              <a:defRPr sz="1400" b="0">
                <a:solidFill>
                  <a:srgbClr val="526376"/>
                </a:solidFill>
                <a:latin typeface="Microsoft YaHei"/>
              </a:defRPr>
            </a:pPr>
            <a:r>
              <a:t>需明确具体区别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02920" y="5614416"/>
            <a:ext cx="11155680" cy="539496"/>
          </a:xfrm>
          <a:prstGeom prst="roundRect">
            <a:avLst>
              <a:gd name="adj" fmla="val 12000"/>
            </a:avLst>
          </a:prstGeom>
          <a:solidFill>
            <a:srgbClr val="087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13232" y="5724144"/>
            <a:ext cx="106984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需要保护具体机制和可验证效果，不能只换应用对象或堆叠已有模块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87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46888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100" b="1">
                <a:solidFill>
                  <a:srgbClr val="087F8C"/>
                </a:solidFill>
                <a:latin typeface="Microsoft YaHei"/>
              </a:defRPr>
            </a:pPr>
            <a:r>
              <a:t>08 待讨论的研发设想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22376"/>
            <a:ext cx="11109960" cy="6309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2800" b="1">
                <a:solidFill>
                  <a:srgbClr val="13263E"/>
                </a:solidFill>
                <a:latin typeface="Microsoft YaHei"/>
              </a:defRPr>
            </a:pPr>
            <a:r>
              <a:t>候选创新主线：分别控制退化证据与健康学习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382512"/>
            <a:ext cx="11155680" cy="12801"/>
          </a:xfrm>
          <a:prstGeom prst="rect">
            <a:avLst/>
          </a:prstGeom>
          <a:solidFill>
            <a:srgbClr val="DCE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10515600" cy="1920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800" b="0">
                <a:solidFill>
                  <a:srgbClr val="526376"/>
                </a:solidFill>
                <a:latin typeface="Microsoft YaHei"/>
              </a:defRPr>
            </a:pPr>
            <a:r>
              <a:t>项目代码、仿真实验报告与附件技术比对｜2026-10-08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92840" y="6492240"/>
            <a:ext cx="457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000" b="0">
                <a:solidFill>
                  <a:srgbClr val="526376"/>
                </a:solidFill>
                <a:latin typeface="Microsoft YaHei"/>
              </a:defRPr>
            </a:pPr>
            <a:r>
              <a:t>09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508760"/>
            <a:ext cx="1097280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900" b="1">
                <a:solidFill>
                  <a:srgbClr val="087F8C"/>
                </a:solidFill>
                <a:latin typeface="Microsoft YaHei"/>
              </a:defRPr>
            </a:pPr>
            <a:r>
              <a:t>技术问题：暂态污染退化证据；未确认恢复的数据污染健康基线。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2148840"/>
            <a:ext cx="5394960" cy="2423160"/>
          </a:xfrm>
          <a:prstGeom prst="roundRect">
            <a:avLst>
              <a:gd name="adj" fmla="val 12000"/>
            </a:avLst>
          </a:prstGeom>
          <a:solidFill>
            <a:srgbClr val="F2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02920" y="2148840"/>
            <a:ext cx="54864" cy="2423160"/>
          </a:xfrm>
          <a:prstGeom prst="rect">
            <a:avLst/>
          </a:prstGeom>
          <a:solidFill>
            <a:srgbClr val="087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13232" y="2322576"/>
            <a:ext cx="4974336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900" b="1">
                <a:solidFill>
                  <a:srgbClr val="087F8C"/>
                </a:solidFill>
                <a:latin typeface="Microsoft YaHei"/>
              </a:defRPr>
            </a:pPr>
            <a:r>
              <a:t>准入A：参与退化判断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3232" y="2898648"/>
            <a:ext cx="4974336" cy="1536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700" b="0">
                <a:solidFill>
                  <a:srgbClr val="526376"/>
                </a:solidFill>
                <a:latin typeface="Microsoft YaHei"/>
              </a:defRPr>
            </a:pPr>
            <a:r>
              <a:t>检查工况稳定性与通道质量</a:t>
            </a:r>
          </a:p>
          <a:p>
            <a:pPr>
              <a:spcAft>
                <a:spcPts val="500"/>
              </a:spcAft>
              <a:defRPr sz="1700" b="0">
                <a:solidFill>
                  <a:srgbClr val="526376"/>
                </a:solidFill>
                <a:latin typeface="Microsoft YaHei"/>
              </a:defRPr>
            </a:pPr>
            <a:r>
              <a:t>决定历史窗口、趋势和报警证据准入</a:t>
            </a:r>
          </a:p>
          <a:p>
            <a:pPr>
              <a:spcAft>
                <a:spcPts val="500"/>
              </a:spcAft>
              <a:defRPr sz="1700" b="0">
                <a:solidFill>
                  <a:srgbClr val="526376"/>
                </a:solidFill>
                <a:latin typeface="Microsoft YaHei"/>
              </a:defRPr>
            </a:pPr>
            <a:r>
              <a:t>不可靠时标为不确定；保留及时危险报警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63640" y="2148840"/>
            <a:ext cx="5394960" cy="2423160"/>
          </a:xfrm>
          <a:prstGeom prst="roundRect">
            <a:avLst>
              <a:gd name="adj" fmla="val 12000"/>
            </a:avLst>
          </a:prstGeom>
          <a:solidFill>
            <a:srgbClr val="F2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63640" y="2148840"/>
            <a:ext cx="54864" cy="2423160"/>
          </a:xfrm>
          <a:prstGeom prst="rect">
            <a:avLst/>
          </a:prstGeom>
          <a:solidFill>
            <a:srgbClr val="087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73952" y="2322576"/>
            <a:ext cx="4974336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900" b="1">
                <a:solidFill>
                  <a:srgbClr val="087F8C"/>
                </a:solidFill>
                <a:latin typeface="Microsoft YaHei"/>
              </a:defRPr>
            </a:pPr>
            <a:r>
              <a:t>准入B：参与健康基线更新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73952" y="2898648"/>
            <a:ext cx="4974336" cy="1536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700" b="0">
                <a:solidFill>
                  <a:srgbClr val="526376"/>
                </a:solidFill>
                <a:latin typeface="Microsoft YaHei"/>
              </a:defRPr>
            </a:pPr>
            <a:r>
              <a:t>维修后新运行段＋可比工况复测</a:t>
            </a:r>
          </a:p>
          <a:p>
            <a:pPr>
              <a:spcAft>
                <a:spcPts val="500"/>
              </a:spcAft>
              <a:defRPr sz="1700" b="0">
                <a:solidFill>
                  <a:srgbClr val="526376"/>
                </a:solidFill>
                <a:latin typeface="Microsoft YaHei"/>
              </a:defRPr>
            </a:pPr>
            <a:r>
              <a:t>独立健康确认后生成候选健康参考</a:t>
            </a:r>
          </a:p>
          <a:p>
            <a:pPr>
              <a:spcAft>
                <a:spcPts val="500"/>
              </a:spcAft>
              <a:defRPr sz="1700" b="0">
                <a:solidFill>
                  <a:srgbClr val="526376"/>
                </a:solidFill>
                <a:latin typeface="Microsoft YaHei"/>
              </a:defRPr>
            </a:pPr>
            <a:r>
              <a:t>验证通过切换版本；失败冻结或回退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4892040"/>
            <a:ext cx="10881360" cy="4480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700" b="1">
                <a:solidFill>
                  <a:srgbClr val="13263E"/>
                </a:solidFill>
                <a:latin typeface="Microsoft YaHei"/>
              </a:defRPr>
            </a:pPr>
            <a:r>
              <a:t>拟研究题目：变工况电动工具的退化证据准入与维修后健康基线受控更新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2920" y="5614416"/>
            <a:ext cx="11155680" cy="539496"/>
          </a:xfrm>
          <a:prstGeom prst="roundRect">
            <a:avLst>
              <a:gd name="adj" fmla="val 12000"/>
            </a:avLst>
          </a:prstGeom>
          <a:solidFill>
            <a:srgbClr val="B67A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13232" y="5724144"/>
            <a:ext cx="106984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候选机制尚未完整实现；其新颖性、创造性与技术效果均需继续验证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87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46888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100" b="1">
                <a:solidFill>
                  <a:srgbClr val="087F8C"/>
                </a:solidFill>
                <a:latin typeface="Microsoft YaHei"/>
              </a:defRPr>
            </a:pPr>
            <a:r>
              <a:t>09 差距与风险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22376"/>
            <a:ext cx="11109960" cy="6309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2800" b="1">
                <a:solidFill>
                  <a:srgbClr val="13263E"/>
                </a:solidFill>
                <a:latin typeface="Microsoft YaHei"/>
              </a:defRPr>
            </a:pPr>
            <a:r>
              <a:t>当前问题：创新证据比功能数量更重要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382512"/>
            <a:ext cx="11155680" cy="12801"/>
          </a:xfrm>
          <a:prstGeom prst="rect">
            <a:avLst/>
          </a:prstGeom>
          <a:solidFill>
            <a:srgbClr val="DCE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10515600" cy="1920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800" b="0">
                <a:solidFill>
                  <a:srgbClr val="526376"/>
                </a:solidFill>
                <a:latin typeface="Microsoft YaHei"/>
              </a:defRPr>
            </a:pPr>
            <a:r>
              <a:t>项目代码、仿真实验报告与附件技术比对｜2026-10-08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92840" y="6492240"/>
            <a:ext cx="457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000" b="0">
                <a:solidFill>
                  <a:srgbClr val="526376"/>
                </a:solidFill>
                <a:latin typeface="Microsoft YaHei"/>
              </a:defRPr>
            </a:pPr>
            <a:r>
              <a:t>10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691640"/>
            <a:ext cx="5394960" cy="1700784"/>
          </a:xfrm>
          <a:prstGeom prst="roundRect">
            <a:avLst>
              <a:gd name="adj" fmla="val 12000"/>
            </a:avLst>
          </a:prstGeom>
          <a:solidFill>
            <a:srgbClr val="F2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2920" y="1691640"/>
            <a:ext cx="54864" cy="1700784"/>
          </a:xfrm>
          <a:prstGeom prst="rect">
            <a:avLst/>
          </a:prstGeom>
          <a:solidFill>
            <a:srgbClr val="B67A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13232" y="1865376"/>
            <a:ext cx="4974336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900" b="1">
                <a:solidFill>
                  <a:srgbClr val="B67A17"/>
                </a:solidFill>
                <a:latin typeface="Microsoft YaHei"/>
              </a:defRPr>
            </a:pPr>
            <a:r>
              <a:t>机制缺口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3232" y="2441448"/>
            <a:ext cx="4974336" cy="8138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700" b="0">
                <a:solidFill>
                  <a:srgbClr val="526376"/>
                </a:solidFill>
                <a:latin typeface="Microsoft YaHei"/>
              </a:defRPr>
            </a:pPr>
            <a:r>
              <a:t>负载切换仅清理报警证据</a:t>
            </a:r>
          </a:p>
          <a:p>
            <a:pPr>
              <a:spcAft>
                <a:spcPts val="500"/>
              </a:spcAft>
              <a:defRPr sz="1700" b="0">
                <a:solidFill>
                  <a:srgbClr val="526376"/>
                </a:solidFill>
                <a:latin typeface="Microsoft YaHei"/>
              </a:defRPr>
            </a:pPr>
            <a:r>
              <a:t>时序历史尚未完整隔离；基线更新待实现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63640" y="1691640"/>
            <a:ext cx="5394960" cy="1700784"/>
          </a:xfrm>
          <a:prstGeom prst="roundRect">
            <a:avLst>
              <a:gd name="adj" fmla="val 12000"/>
            </a:avLst>
          </a:prstGeom>
          <a:solidFill>
            <a:srgbClr val="F2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63640" y="1691640"/>
            <a:ext cx="54864" cy="1700784"/>
          </a:xfrm>
          <a:prstGeom prst="rect">
            <a:avLst/>
          </a:prstGeom>
          <a:solidFill>
            <a:srgbClr val="B67A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73952" y="1865376"/>
            <a:ext cx="4974336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900" b="1">
                <a:solidFill>
                  <a:srgbClr val="B67A17"/>
                </a:solidFill>
                <a:latin typeface="Microsoft YaHei"/>
              </a:defRPr>
            </a:pPr>
            <a:r>
              <a:t>数据缺口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73952" y="2441448"/>
            <a:ext cx="4974336" cy="8138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700" b="0">
                <a:solidFill>
                  <a:srgbClr val="526376"/>
                </a:solidFill>
                <a:latin typeface="Microsoft YaHei"/>
              </a:defRPr>
            </a:pPr>
            <a:r>
              <a:t>没有真实电钻、传感器标定及磨损真值</a:t>
            </a:r>
          </a:p>
          <a:p>
            <a:pPr>
              <a:spcAft>
                <a:spcPts val="500"/>
              </a:spcAft>
              <a:defRPr sz="1700" b="0">
                <a:solidFill>
                  <a:srgbClr val="526376"/>
                </a:solidFill>
                <a:latin typeface="Microsoft YaHei"/>
              </a:defRPr>
            </a:pPr>
            <a:r>
              <a:t>健康复测目前仍是专门设计的模拟样例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3657600"/>
            <a:ext cx="5394960" cy="1700784"/>
          </a:xfrm>
          <a:prstGeom prst="roundRect">
            <a:avLst>
              <a:gd name="adj" fmla="val 12000"/>
            </a:avLst>
          </a:prstGeom>
          <a:solidFill>
            <a:srgbClr val="F2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02920" y="3657600"/>
            <a:ext cx="54864" cy="1700784"/>
          </a:xfrm>
          <a:prstGeom prst="rect">
            <a:avLst/>
          </a:prstGeom>
          <a:solidFill>
            <a:srgbClr val="B67A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13232" y="3831336"/>
            <a:ext cx="4974336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900" b="1">
                <a:solidFill>
                  <a:srgbClr val="B67A17"/>
                </a:solidFill>
                <a:latin typeface="Microsoft YaHei"/>
              </a:defRPr>
            </a:pPr>
            <a:r>
              <a:t>效果缺口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3232" y="4407408"/>
            <a:ext cx="4974336" cy="8138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700" b="0">
                <a:solidFill>
                  <a:srgbClr val="526376"/>
                </a:solidFill>
                <a:latin typeface="Microsoft YaHei"/>
              </a:defRPr>
            </a:pPr>
            <a:r>
              <a:t>需要共同报告误报、漏报和检出延迟</a:t>
            </a:r>
          </a:p>
          <a:p>
            <a:pPr>
              <a:spcAft>
                <a:spcPts val="500"/>
              </a:spcAft>
              <a:defRPr sz="1700" b="0">
                <a:solidFill>
                  <a:srgbClr val="526376"/>
                </a:solidFill>
                <a:latin typeface="Microsoft YaHei"/>
              </a:defRPr>
            </a:pPr>
            <a:r>
              <a:t>不能凭分类准确率证明维护效果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63640" y="3657600"/>
            <a:ext cx="5394960" cy="1700784"/>
          </a:xfrm>
          <a:prstGeom prst="roundRect">
            <a:avLst>
              <a:gd name="adj" fmla="val 12000"/>
            </a:avLst>
          </a:prstGeom>
          <a:solidFill>
            <a:srgbClr val="F2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263640" y="3657600"/>
            <a:ext cx="54864" cy="1700784"/>
          </a:xfrm>
          <a:prstGeom prst="rect">
            <a:avLst/>
          </a:prstGeom>
          <a:solidFill>
            <a:srgbClr val="B67A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73952" y="3831336"/>
            <a:ext cx="4974336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900" b="1">
                <a:solidFill>
                  <a:srgbClr val="B67A17"/>
                </a:solidFill>
                <a:latin typeface="Microsoft YaHei"/>
              </a:defRPr>
            </a:pPr>
            <a:r>
              <a:t>查新缺口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73952" y="4407408"/>
            <a:ext cx="4974336" cy="8138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700" b="0">
                <a:solidFill>
                  <a:srgbClr val="526376"/>
                </a:solidFill>
                <a:latin typeface="Microsoft YaHei"/>
              </a:defRPr>
            </a:pPr>
            <a:r>
              <a:t>质量感知、暂态隔离、维修后基线适应</a:t>
            </a:r>
          </a:p>
          <a:p>
            <a:pPr>
              <a:spcAft>
                <a:spcPts val="500"/>
              </a:spcAft>
              <a:defRPr sz="1700" b="0">
                <a:solidFill>
                  <a:srgbClr val="526376"/>
                </a:solidFill>
                <a:latin typeface="Microsoft YaHei"/>
              </a:defRPr>
            </a:pPr>
            <a:r>
              <a:t>仍需补充检索与申请公开状态核验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02920" y="5614416"/>
            <a:ext cx="11155680" cy="539496"/>
          </a:xfrm>
          <a:prstGeom prst="roundRect">
            <a:avLst>
              <a:gd name="adj" fmla="val 12000"/>
            </a:avLst>
          </a:prstGeom>
          <a:solidFill>
            <a:srgbClr val="087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13232" y="5724144"/>
            <a:ext cx="106984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需要建立完整链条：具体问题 → 技术机制 → 对照实验 → 可保护的必要特征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87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46888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100" b="1">
                <a:solidFill>
                  <a:srgbClr val="087F8C"/>
                </a:solidFill>
                <a:latin typeface="Microsoft YaHei"/>
              </a:defRPr>
            </a:pPr>
            <a:r>
              <a:t>10 建议研究计划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22376"/>
            <a:ext cx="11109960" cy="6309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2800" b="1">
                <a:solidFill>
                  <a:srgbClr val="13263E"/>
                </a:solidFill>
                <a:latin typeface="Microsoft YaHei"/>
              </a:defRPr>
            </a:pPr>
            <a:r>
              <a:t>下一步：用对照实验验证机制，再形成权利要求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382512"/>
            <a:ext cx="11155680" cy="12801"/>
          </a:xfrm>
          <a:prstGeom prst="rect">
            <a:avLst/>
          </a:prstGeom>
          <a:solidFill>
            <a:srgbClr val="DCE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10515600" cy="1920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800" b="0">
                <a:solidFill>
                  <a:srgbClr val="526376"/>
                </a:solidFill>
                <a:latin typeface="Microsoft YaHei"/>
              </a:defRPr>
            </a:pPr>
            <a:r>
              <a:t>项目代码、仿真实验报告与附件技术比对｜2026-10-08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92840" y="6492240"/>
            <a:ext cx="457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000" b="0">
                <a:solidFill>
                  <a:srgbClr val="526376"/>
                </a:solidFill>
                <a:latin typeface="Microsoft YaHei"/>
              </a:defRPr>
            </a:pPr>
            <a:r>
              <a:t>11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828800"/>
            <a:ext cx="3547871" cy="1371600"/>
          </a:xfrm>
          <a:prstGeom prst="roundRect">
            <a:avLst>
              <a:gd name="adj" fmla="val 12000"/>
            </a:avLst>
          </a:prstGeom>
          <a:solidFill>
            <a:srgbClr val="F2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0936" y="2029968"/>
            <a:ext cx="3291839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800" b="1">
                <a:solidFill>
                  <a:srgbClr val="087F8C"/>
                </a:solidFill>
                <a:latin typeface="Microsoft YaHei"/>
              </a:defRPr>
            </a:pPr>
            <a:r>
              <a:t>步骤1：确定方案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0936" y="2606040"/>
            <a:ext cx="3291839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400" b="0">
                <a:solidFill>
                  <a:srgbClr val="526376"/>
                </a:solidFill>
                <a:latin typeface="Microsoft YaHei"/>
              </a:defRPr>
            </a:pPr>
            <a:r>
              <a:t>补查新 / 状态图 / 准入条件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082796" y="2377440"/>
            <a:ext cx="210312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2400" b="1">
                <a:solidFill>
                  <a:srgbClr val="087F8C"/>
                </a:solidFill>
                <a:latin typeface="Microsoft YaHei"/>
              </a:defRPr>
            </a:pPr>
            <a:r>
              <a:t>›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06823" y="1828800"/>
            <a:ext cx="3547871" cy="1371600"/>
          </a:xfrm>
          <a:prstGeom prst="roundRect">
            <a:avLst>
              <a:gd name="adj" fmla="val 12000"/>
            </a:avLst>
          </a:prstGeom>
          <a:solidFill>
            <a:srgbClr val="F2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34839" y="2029968"/>
            <a:ext cx="3291839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800" b="1">
                <a:solidFill>
                  <a:srgbClr val="087F8C"/>
                </a:solidFill>
                <a:latin typeface="Microsoft YaHei"/>
              </a:defRPr>
            </a:pPr>
            <a:r>
              <a:t>步骤2：机制对照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34839" y="2606040"/>
            <a:ext cx="3291839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400" b="0">
                <a:solidFill>
                  <a:srgbClr val="526376"/>
                </a:solidFill>
                <a:latin typeface="Microsoft YaHei"/>
              </a:defRPr>
            </a:pPr>
            <a:r>
              <a:t>统一模型 / 分项消融 / 故障注入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886699" y="2377440"/>
            <a:ext cx="210312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2400" b="1">
                <a:solidFill>
                  <a:srgbClr val="087F8C"/>
                </a:solidFill>
                <a:latin typeface="Microsoft YaHei"/>
              </a:defRPr>
            </a:pPr>
            <a:r>
              <a:t>›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10727" y="1828800"/>
            <a:ext cx="3547871" cy="1371600"/>
          </a:xfrm>
          <a:prstGeom prst="roundRect">
            <a:avLst>
              <a:gd name="adj" fmla="val 12000"/>
            </a:avLst>
          </a:prstGeom>
          <a:solidFill>
            <a:srgbClr val="F2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38744" y="2029968"/>
            <a:ext cx="3291839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800" b="1">
                <a:solidFill>
                  <a:srgbClr val="087F8C"/>
                </a:solidFill>
                <a:latin typeface="Microsoft YaHei"/>
              </a:defRPr>
            </a:pPr>
            <a:r>
              <a:t>步骤3：真实验证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38744" y="2606040"/>
            <a:ext cx="3291839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400" b="0">
                <a:solidFill>
                  <a:srgbClr val="526376"/>
                </a:solidFill>
                <a:latin typeface="Microsoft YaHei"/>
              </a:defRPr>
            </a:pPr>
            <a:r>
              <a:t>传感器采集 / 磨损检查 / 维修复测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02920" y="3657600"/>
            <a:ext cx="5394960" cy="1627632"/>
          </a:xfrm>
          <a:prstGeom prst="roundRect">
            <a:avLst>
              <a:gd name="adj" fmla="val 12000"/>
            </a:avLst>
          </a:prstGeom>
          <a:solidFill>
            <a:srgbClr val="F2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02920" y="3657600"/>
            <a:ext cx="54864" cy="1627632"/>
          </a:xfrm>
          <a:prstGeom prst="rect">
            <a:avLst/>
          </a:prstGeom>
          <a:solidFill>
            <a:srgbClr val="087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13232" y="3831336"/>
            <a:ext cx="4974336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900" b="1">
                <a:solidFill>
                  <a:srgbClr val="087F8C"/>
                </a:solidFill>
                <a:latin typeface="Microsoft YaHei"/>
              </a:defRPr>
            </a:pPr>
            <a:r>
              <a:t>实验场景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3232" y="4407408"/>
            <a:ext cx="4974336" cy="7406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700" b="0">
                <a:solidFill>
                  <a:srgbClr val="526376"/>
                </a:solidFill>
                <a:latin typeface="Microsoft YaHei"/>
              </a:defRPr>
            </a:pPr>
            <a:r>
              <a:t>健康/磨损 × 稳定/切换工况 × 正常/异常传感器</a:t>
            </a:r>
          </a:p>
          <a:p>
            <a:pPr>
              <a:spcAft>
                <a:spcPts val="500"/>
              </a:spcAft>
              <a:defRPr sz="1700" b="0">
                <a:solidFill>
                  <a:srgbClr val="526376"/>
                </a:solidFill>
                <a:latin typeface="Microsoft YaHei"/>
              </a:defRPr>
            </a:pPr>
            <a:r>
              <a:t>有效维修、残余故障、换传感器、负载改变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63640" y="3657600"/>
            <a:ext cx="5394960" cy="1627632"/>
          </a:xfrm>
          <a:prstGeom prst="roundRect">
            <a:avLst>
              <a:gd name="adj" fmla="val 12000"/>
            </a:avLst>
          </a:prstGeom>
          <a:solidFill>
            <a:srgbClr val="F2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263640" y="3657600"/>
            <a:ext cx="54864" cy="1627632"/>
          </a:xfrm>
          <a:prstGeom prst="rect">
            <a:avLst/>
          </a:prstGeom>
          <a:solidFill>
            <a:srgbClr val="087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73952" y="3831336"/>
            <a:ext cx="4974336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900" b="1">
                <a:solidFill>
                  <a:srgbClr val="087F8C"/>
                </a:solidFill>
                <a:latin typeface="Microsoft YaHei"/>
              </a:defRPr>
            </a:pPr>
            <a:r>
              <a:t>验收指标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73952" y="4407408"/>
            <a:ext cx="4974336" cy="7406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700" b="0">
                <a:solidFill>
                  <a:srgbClr val="526376"/>
                </a:solidFill>
                <a:latin typeface="Microsoft YaHei"/>
              </a:defRPr>
            </a:pPr>
            <a:r>
              <a:t>同等召回下误报警事件数、检出延迟与覆盖率</a:t>
            </a:r>
          </a:p>
          <a:p>
            <a:pPr>
              <a:spcAft>
                <a:spcPts val="500"/>
              </a:spcAft>
              <a:defRPr sz="1700" b="0">
                <a:solidFill>
                  <a:srgbClr val="526376"/>
                </a:solidFill>
                <a:latin typeface="Microsoft YaHei"/>
              </a:defRPr>
            </a:pPr>
            <a:r>
              <a:t>基线污染程度、故障灵敏度与回退成功率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02920" y="5614416"/>
            <a:ext cx="11155680" cy="539496"/>
          </a:xfrm>
          <a:prstGeom prst="roundRect">
            <a:avLst>
              <a:gd name="adj" fmla="val 12000"/>
            </a:avLst>
          </a:prstGeom>
          <a:solidFill>
            <a:srgbClr val="087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13232" y="5724144"/>
            <a:ext cx="106984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优先验证准入机制的贡献；数据按设备与运行段隔离，避免重叠窗口泄漏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87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46888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100" b="1">
                <a:solidFill>
                  <a:srgbClr val="087F8C"/>
                </a:solidFill>
                <a:latin typeface="Microsoft YaHei"/>
              </a:defRPr>
            </a:pPr>
            <a:r>
              <a:t>11 讨论与决策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22376"/>
            <a:ext cx="11109960" cy="6309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2800" b="1">
                <a:solidFill>
                  <a:srgbClr val="13263E"/>
                </a:solidFill>
                <a:latin typeface="Microsoft YaHei"/>
              </a:defRPr>
            </a:pPr>
            <a:r>
              <a:t>希望老师帮助确定的四个问题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382512"/>
            <a:ext cx="11155680" cy="12801"/>
          </a:xfrm>
          <a:prstGeom prst="rect">
            <a:avLst/>
          </a:prstGeom>
          <a:solidFill>
            <a:srgbClr val="DCE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10515600" cy="1920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800" b="0">
                <a:solidFill>
                  <a:srgbClr val="526376"/>
                </a:solidFill>
                <a:latin typeface="Microsoft YaHei"/>
              </a:defRPr>
            </a:pPr>
            <a:r>
              <a:t>项目代码、仿真实验报告与附件技术比对｜2026-10-08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92840" y="6492240"/>
            <a:ext cx="457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000" b="0">
                <a:solidFill>
                  <a:srgbClr val="526376"/>
                </a:solidFill>
                <a:latin typeface="Microsoft YaHei"/>
              </a:defRPr>
            </a:pPr>
            <a:r>
              <a:t>12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737360"/>
            <a:ext cx="11155680" cy="704088"/>
          </a:xfrm>
          <a:prstGeom prst="roundRect">
            <a:avLst>
              <a:gd name="adj" fmla="val 12000"/>
            </a:avLst>
          </a:prstGeom>
          <a:solidFill>
            <a:srgbClr val="F2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13232" y="1892807"/>
            <a:ext cx="23774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800" b="1">
                <a:solidFill>
                  <a:srgbClr val="087F8C"/>
                </a:solidFill>
                <a:latin typeface="Microsoft YaHei"/>
              </a:defRPr>
            </a:pPr>
            <a:r>
              <a:t>01 创新主线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0" y="1892807"/>
            <a:ext cx="8183879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800" b="0">
                <a:solidFill>
                  <a:srgbClr val="526376"/>
                </a:solidFill>
                <a:latin typeface="Microsoft YaHei"/>
              </a:defRPr>
            </a:pPr>
            <a:r>
              <a:t>“退化证据准入＋维修后基线受控更新”是否值得继续？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2596896"/>
            <a:ext cx="11155680" cy="704088"/>
          </a:xfrm>
          <a:prstGeom prst="roundRect">
            <a:avLst>
              <a:gd name="adj" fmla="val 12000"/>
            </a:avLst>
          </a:prstGeom>
          <a:solidFill>
            <a:srgbClr val="F2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13232" y="2752344"/>
            <a:ext cx="23774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800" b="1">
                <a:solidFill>
                  <a:srgbClr val="087F8C"/>
                </a:solidFill>
                <a:latin typeface="Microsoft YaHei"/>
              </a:defRPr>
            </a:pPr>
            <a:r>
              <a:t>02 范围取舍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400" y="2752344"/>
            <a:ext cx="8183879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800" b="0">
                <a:solidFill>
                  <a:srgbClr val="526376"/>
                </a:solidFill>
                <a:latin typeface="Microsoft YaHei"/>
              </a:defRPr>
            </a:pPr>
            <a:r>
              <a:t>主攻轴承故障与误报控制，还是必须以真实RUL预测为核心？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" y="3456432"/>
            <a:ext cx="11155680" cy="704088"/>
          </a:xfrm>
          <a:prstGeom prst="roundRect">
            <a:avLst>
              <a:gd name="adj" fmla="val 12000"/>
            </a:avLst>
          </a:prstGeom>
          <a:solidFill>
            <a:srgbClr val="F2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13232" y="3611879"/>
            <a:ext cx="23774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800" b="1">
                <a:solidFill>
                  <a:srgbClr val="087F8C"/>
                </a:solidFill>
                <a:latin typeface="Microsoft YaHei"/>
              </a:defRPr>
            </a:pPr>
            <a:r>
              <a:t>03 验证资源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00400" y="3611879"/>
            <a:ext cx="8183879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800" b="0">
                <a:solidFill>
                  <a:srgbClr val="526376"/>
                </a:solidFill>
                <a:latin typeface="Microsoft YaHei"/>
              </a:defRPr>
            </a:pPr>
            <a:r>
              <a:t>是否有可用电钻台架、采集板、磨损测量或合作数据？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2920" y="4315968"/>
            <a:ext cx="11155680" cy="704088"/>
          </a:xfrm>
          <a:prstGeom prst="roundRect">
            <a:avLst>
              <a:gd name="adj" fmla="val 12000"/>
            </a:avLst>
          </a:prstGeom>
          <a:solidFill>
            <a:srgbClr val="F2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13232" y="4471416"/>
            <a:ext cx="23774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800" b="1">
                <a:solidFill>
                  <a:srgbClr val="087F8C"/>
                </a:solidFill>
                <a:latin typeface="Microsoft YaHei"/>
              </a:defRPr>
            </a:pPr>
            <a:r>
              <a:t>04 下一步优先级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00400" y="4471416"/>
            <a:ext cx="8183879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800" b="0">
                <a:solidFill>
                  <a:srgbClr val="526376"/>
                </a:solidFill>
                <a:latin typeface="Microsoft YaHei"/>
              </a:defRPr>
            </a:pPr>
            <a:r>
              <a:t>先完成机制对照与交底，还是先补最接近专利检索？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02920" y="5614416"/>
            <a:ext cx="11155680" cy="539496"/>
          </a:xfrm>
          <a:prstGeom prst="roundRect">
            <a:avLst>
              <a:gd name="adj" fmla="val 12000"/>
            </a:avLst>
          </a:prstGeom>
          <a:solidFill>
            <a:srgbClr val="087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13232" y="5724144"/>
            <a:ext cx="106984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希望形成的会议结论：一条主线、一套最小实验、一个可获得的数据来源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87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46888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100" b="1">
                <a:solidFill>
                  <a:srgbClr val="087F8C"/>
                </a:solidFill>
                <a:latin typeface="Microsoft YaHei"/>
              </a:defRPr>
            </a:pPr>
            <a:r>
              <a:t>备用页 · 被追问时使用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22376"/>
            <a:ext cx="11109960" cy="6309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2800" b="1">
                <a:solidFill>
                  <a:srgbClr val="13263E"/>
                </a:solidFill>
                <a:latin typeface="Microsoft YaHei"/>
              </a:defRPr>
            </a:pPr>
            <a:r>
              <a:t>附录A：实验指标与使用边界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382512"/>
            <a:ext cx="11155680" cy="12801"/>
          </a:xfrm>
          <a:prstGeom prst="rect">
            <a:avLst/>
          </a:prstGeom>
          <a:solidFill>
            <a:srgbClr val="DCE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10515600" cy="1920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800" b="0">
                <a:solidFill>
                  <a:srgbClr val="526376"/>
                </a:solidFill>
                <a:latin typeface="Microsoft YaHei"/>
              </a:defRPr>
            </a:pPr>
            <a:r>
              <a:t>数据：artifacts/experiment_results.json；CPU前向延迟不含采集、特征提取与IO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92840" y="6492240"/>
            <a:ext cx="457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000" b="0">
                <a:solidFill>
                  <a:srgbClr val="526376"/>
                </a:solidFill>
                <a:latin typeface="Microsoft YaHei"/>
              </a:defRPr>
            </a:pPr>
            <a:r>
              <a:t>13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1691640"/>
            <a:ext cx="11155680" cy="502920"/>
          </a:xfrm>
          <a:prstGeom prst="rect">
            <a:avLst/>
          </a:prstGeom>
          <a:solidFill>
            <a:srgbClr val="1326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1801368"/>
            <a:ext cx="34747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模型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43400" y="1801368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准确率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03720" y="1801368"/>
            <a:ext cx="2560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RUL MAE(h)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46920" y="1801368"/>
            <a:ext cx="17830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参数量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2194560"/>
            <a:ext cx="11155680" cy="457200"/>
          </a:xfrm>
          <a:prstGeom prst="rect">
            <a:avLst/>
          </a:prstGeom>
          <a:solidFill>
            <a:srgbClr val="F2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2295144"/>
            <a:ext cx="34747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400" b="0">
                <a:solidFill>
                  <a:srgbClr val="526376"/>
                </a:solidFill>
                <a:latin typeface="Microsoft YaHei"/>
              </a:defRPr>
            </a:pPr>
            <a:r>
              <a:t>组合模型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43400" y="2295144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400" b="0">
                <a:solidFill>
                  <a:srgbClr val="526376"/>
                </a:solidFill>
                <a:latin typeface="Microsoft YaHei"/>
              </a:defRPr>
            </a:pPr>
            <a:r>
              <a:t>95.64%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03720" y="2295144"/>
            <a:ext cx="2560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400" b="0">
                <a:solidFill>
                  <a:srgbClr val="526376"/>
                </a:solidFill>
                <a:latin typeface="Microsoft YaHei"/>
              </a:defRPr>
            </a:pPr>
            <a:r>
              <a:t>0.1633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46920" y="2295144"/>
            <a:ext cx="17830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400" b="0">
                <a:solidFill>
                  <a:srgbClr val="526376"/>
                </a:solidFill>
                <a:latin typeface="Microsoft YaHei"/>
              </a:defRPr>
            </a:pPr>
            <a:r>
              <a:t>17,789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2920" y="2651760"/>
            <a:ext cx="1115568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5800" y="2752344"/>
            <a:ext cx="34747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400" b="0">
                <a:solidFill>
                  <a:srgbClr val="526376"/>
                </a:solidFill>
                <a:latin typeface="Microsoft YaHei"/>
              </a:defRPr>
            </a:pPr>
            <a:r>
              <a:t>纯LSTM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43400" y="2752344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400" b="0">
                <a:solidFill>
                  <a:srgbClr val="526376"/>
                </a:solidFill>
                <a:latin typeface="Microsoft YaHei"/>
              </a:defRPr>
            </a:pPr>
            <a:r>
              <a:t>95.64%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03720" y="2752344"/>
            <a:ext cx="2560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400" b="0">
                <a:solidFill>
                  <a:srgbClr val="526376"/>
                </a:solidFill>
                <a:latin typeface="Microsoft YaHei"/>
              </a:defRPr>
            </a:pPr>
            <a:r>
              <a:t>0.1546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46920" y="2752344"/>
            <a:ext cx="17830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400" b="0">
                <a:solidFill>
                  <a:srgbClr val="526376"/>
                </a:solidFill>
                <a:latin typeface="Microsoft YaHei"/>
              </a:defRPr>
            </a:pPr>
            <a:r>
              <a:t>9,245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02920" y="3108960"/>
            <a:ext cx="11155680" cy="457200"/>
          </a:xfrm>
          <a:prstGeom prst="rect">
            <a:avLst/>
          </a:prstGeom>
          <a:solidFill>
            <a:srgbClr val="F2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85800" y="3209544"/>
            <a:ext cx="34747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400" b="0">
                <a:solidFill>
                  <a:srgbClr val="526376"/>
                </a:solidFill>
                <a:latin typeface="Microsoft YaHei"/>
              </a:defRPr>
            </a:pPr>
            <a:r>
              <a:t>Transformer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343400" y="3209544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400" b="0">
                <a:solidFill>
                  <a:srgbClr val="526376"/>
                </a:solidFill>
                <a:latin typeface="Microsoft YaHei"/>
              </a:defRPr>
            </a:pPr>
            <a:r>
              <a:t>94.99%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903720" y="3209544"/>
            <a:ext cx="2560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400" b="0">
                <a:solidFill>
                  <a:srgbClr val="526376"/>
                </a:solidFill>
                <a:latin typeface="Microsoft YaHei"/>
              </a:defRPr>
            </a:pPr>
            <a:r>
              <a:t>0.1752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46920" y="3209544"/>
            <a:ext cx="17830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400" b="0">
                <a:solidFill>
                  <a:srgbClr val="526376"/>
                </a:solidFill>
                <a:latin typeface="Microsoft YaHei"/>
              </a:defRPr>
            </a:pPr>
            <a:r>
              <a:t>9,341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02920" y="3566160"/>
            <a:ext cx="1115568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85800" y="3666744"/>
            <a:ext cx="34747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400" b="0">
                <a:solidFill>
                  <a:srgbClr val="526376"/>
                </a:solidFill>
                <a:latin typeface="Microsoft YaHei"/>
              </a:defRPr>
            </a:pPr>
            <a:r>
              <a:t>无工况校正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343400" y="3666744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400" b="0">
                <a:solidFill>
                  <a:srgbClr val="526376"/>
                </a:solidFill>
                <a:latin typeface="Microsoft YaHei"/>
              </a:defRPr>
            </a:pPr>
            <a:r>
              <a:t>82.35%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903720" y="3666744"/>
            <a:ext cx="2560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400" b="0">
                <a:solidFill>
                  <a:srgbClr val="526376"/>
                </a:solidFill>
                <a:latin typeface="Microsoft YaHei"/>
              </a:defRPr>
            </a:pPr>
            <a:r>
              <a:t>0.2264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646920" y="3666744"/>
            <a:ext cx="17830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400" b="0">
                <a:solidFill>
                  <a:srgbClr val="526376"/>
                </a:solidFill>
                <a:latin typeface="Microsoft YaHei"/>
              </a:defRPr>
            </a:pPr>
            <a:r>
              <a:t>17,789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02920" y="4023360"/>
            <a:ext cx="11155680" cy="457200"/>
          </a:xfrm>
          <a:prstGeom prst="rect">
            <a:avLst/>
          </a:prstGeom>
          <a:solidFill>
            <a:srgbClr val="F2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85800" y="4123944"/>
            <a:ext cx="34747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400" b="0">
                <a:solidFill>
                  <a:srgbClr val="526376"/>
                </a:solidFill>
                <a:latin typeface="Microsoft YaHei"/>
              </a:defRPr>
            </a:pPr>
            <a:r>
              <a:t>固定融合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343400" y="4123944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400" b="0">
                <a:solidFill>
                  <a:srgbClr val="526376"/>
                </a:solidFill>
                <a:latin typeface="Microsoft YaHei"/>
              </a:defRPr>
            </a:pPr>
            <a:r>
              <a:t>94.55%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903720" y="4123944"/>
            <a:ext cx="2560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400" b="0">
                <a:solidFill>
                  <a:srgbClr val="526376"/>
                </a:solidFill>
                <a:latin typeface="Microsoft YaHei"/>
              </a:defRPr>
            </a:pPr>
            <a:r>
              <a:t>0.1755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646920" y="4123944"/>
            <a:ext cx="17830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400" b="0">
                <a:solidFill>
                  <a:srgbClr val="526376"/>
                </a:solidFill>
                <a:latin typeface="Microsoft YaHei"/>
              </a:defRPr>
            </a:pPr>
            <a:r>
              <a:t>17,789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85800" y="4709160"/>
            <a:ext cx="1097280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500" b="0">
                <a:solidFill>
                  <a:srgbClr val="526376"/>
                </a:solidFill>
                <a:latin typeface="Microsoft YaHei"/>
              </a:defRPr>
            </a:pPr>
            <a:r>
              <a:t>组合模型CPU前向P95：0.685 ms；INT8后权重文件缩小29.42%，前向反而变慢。</a:t>
            </a:r>
          </a:p>
          <a:p>
            <a:pPr>
              <a:spcAft>
                <a:spcPts val="500"/>
              </a:spcAft>
              <a:defRPr sz="1500" b="0">
                <a:solidFill>
                  <a:srgbClr val="526376"/>
                </a:solidFill>
                <a:latin typeface="Microsoft YaHei"/>
              </a:defRPr>
            </a:pPr>
            <a:r>
              <a:t>未验证：真实寿命误差、3–7天提前预警、70%算力下降、目标硬件功耗。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502920" y="5614416"/>
            <a:ext cx="11155680" cy="539496"/>
          </a:xfrm>
          <a:prstGeom prst="roundRect">
            <a:avLst>
              <a:gd name="adj" fmla="val 12000"/>
            </a:avLst>
          </a:prstGeom>
          <a:solidFill>
            <a:srgbClr val="B67A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13232" y="5724144"/>
            <a:ext cx="106984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寿命单位为有效运行小时；全部指标来自仿真，不外推自然日或真实设备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87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46888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100" b="1">
                <a:solidFill>
                  <a:srgbClr val="087F8C"/>
                </a:solidFill>
                <a:latin typeface="Microsoft YaHei"/>
              </a:defRPr>
            </a:pPr>
            <a:r>
              <a:t>备用页 · 技术定位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22376"/>
            <a:ext cx="11109960" cy="6309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2800" b="1">
                <a:solidFill>
                  <a:srgbClr val="13263E"/>
                </a:solidFill>
                <a:latin typeface="Microsoft YaHei"/>
              </a:defRPr>
            </a:pPr>
            <a:r>
              <a:t>附录B：最接近资料与具体出处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382512"/>
            <a:ext cx="11155680" cy="12801"/>
          </a:xfrm>
          <a:prstGeom prst="rect">
            <a:avLst/>
          </a:prstGeom>
          <a:solidFill>
            <a:srgbClr val="DCE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10515600" cy="1920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800" b="0">
                <a:solidFill>
                  <a:srgbClr val="526376"/>
                </a:solidFill>
                <a:latin typeface="Microsoft YaHei"/>
              </a:defRPr>
            </a:pPr>
            <a:r>
              <a:t>项目代码、仿真实验报告与附件技术比对｜2026-10-08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92840" y="6492240"/>
            <a:ext cx="457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000" b="0">
                <a:solidFill>
                  <a:srgbClr val="526376"/>
                </a:solidFill>
                <a:latin typeface="Microsoft YaHei"/>
              </a:defRPr>
            </a:pPr>
            <a:r>
              <a:t>14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1719072"/>
            <a:ext cx="11155680" cy="576072"/>
          </a:xfrm>
          <a:prstGeom prst="rect">
            <a:avLst/>
          </a:prstGeom>
          <a:solidFill>
            <a:srgbClr val="F2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7512" y="1856231"/>
            <a:ext cx="21945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500" b="1">
                <a:solidFill>
                  <a:srgbClr val="087F8C"/>
                </a:solidFill>
                <a:latin typeface="Microsoft YaHei"/>
              </a:defRPr>
            </a:pPr>
            <a:r>
              <a:t>轴承寿命网络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26080" y="1856231"/>
            <a:ext cx="850392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300" b="0">
                <a:solidFill>
                  <a:srgbClr val="526376"/>
                </a:solidFill>
                <a:latin typeface="Microsoft YaHei"/>
              </a:defRPr>
            </a:pPr>
            <a:r>
              <a:t>张帆等，2024；DOI 10.13465/j.cnki.jvs.2024.06.034；PDF第1–4页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2423160"/>
            <a:ext cx="11155680" cy="576072"/>
          </a:xfrm>
          <a:prstGeom prst="rect">
            <a:avLst/>
          </a:prstGeom>
          <a:solidFill>
            <a:srgbClr val="F2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7512" y="2560320"/>
            <a:ext cx="21945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500" b="1">
                <a:solidFill>
                  <a:srgbClr val="087F8C"/>
                </a:solidFill>
                <a:latin typeface="Microsoft YaHei"/>
              </a:defRPr>
            </a:pPr>
            <a:r>
              <a:t>多源电机融合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26080" y="2560320"/>
            <a:ext cx="850392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300" b="0">
                <a:solidFill>
                  <a:srgbClr val="526376"/>
                </a:solidFill>
                <a:latin typeface="Microsoft YaHei"/>
              </a:defRPr>
            </a:pPr>
            <a:r>
              <a:t>古玉锋等，2026；DOI 10.16450/j.cnki.issn.1004-6801.2026.01.017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3127248"/>
            <a:ext cx="11155680" cy="576072"/>
          </a:xfrm>
          <a:prstGeom prst="rect">
            <a:avLst/>
          </a:prstGeom>
          <a:solidFill>
            <a:srgbClr val="F2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7512" y="3264408"/>
            <a:ext cx="21945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500" b="1">
                <a:solidFill>
                  <a:srgbClr val="087F8C"/>
                </a:solidFill>
                <a:latin typeface="Microsoft YaHei"/>
              </a:defRPr>
            </a:pPr>
            <a:r>
              <a:t>动态阈值与报警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26080" y="3264408"/>
            <a:ext cx="850392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300" b="0">
                <a:solidFill>
                  <a:srgbClr val="526376"/>
                </a:solidFill>
                <a:latin typeface="Microsoft YaHei"/>
              </a:defRPr>
            </a:pPr>
            <a:r>
              <a:t>CN121385628A：权利要求1、8–10；说明书健康负载基线/窗长段落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2920" y="3831335"/>
            <a:ext cx="11155680" cy="576072"/>
          </a:xfrm>
          <a:prstGeom prst="rect">
            <a:avLst/>
          </a:prstGeom>
          <a:solidFill>
            <a:srgbClr val="F2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7512" y="3968496"/>
            <a:ext cx="21945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500" b="1">
                <a:solidFill>
                  <a:srgbClr val="087F8C"/>
                </a:solidFill>
                <a:latin typeface="Microsoft YaHei"/>
              </a:defRPr>
            </a:pPr>
            <a:r>
              <a:t>基线与摩擦残差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26080" y="3968496"/>
            <a:ext cx="850392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300" b="0">
                <a:solidFill>
                  <a:srgbClr val="526376"/>
                </a:solidFill>
                <a:latin typeface="Microsoft YaHei"/>
              </a:defRPr>
            </a:pPr>
            <a:r>
              <a:t>CN121432174A：权利要求1、2、5、9；说明书对应段落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2920" y="4535424"/>
            <a:ext cx="11155680" cy="576072"/>
          </a:xfrm>
          <a:prstGeom prst="rect">
            <a:avLst/>
          </a:prstGeom>
          <a:solidFill>
            <a:srgbClr val="F2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7512" y="4672584"/>
            <a:ext cx="21945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500" b="1">
                <a:solidFill>
                  <a:srgbClr val="087F8C"/>
                </a:solidFill>
                <a:latin typeface="Microsoft YaHei"/>
              </a:defRPr>
            </a:pPr>
            <a:r>
              <a:t>工况多源深度诊断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926080" y="4672584"/>
            <a:ext cx="850392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300" b="0">
                <a:solidFill>
                  <a:srgbClr val="526376"/>
                </a:solidFill>
                <a:latin typeface="Microsoft YaHei"/>
              </a:defRPr>
            </a:pPr>
            <a:r>
              <a:t>CN122258007A：权利要求1–9；振动/声音/电流与工况融合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02920" y="5614416"/>
            <a:ext cx="11155680" cy="539496"/>
          </a:xfrm>
          <a:prstGeom prst="roundRect">
            <a:avLst>
              <a:gd name="adj" fmla="val 12000"/>
            </a:avLst>
          </a:prstGeom>
          <a:solidFill>
            <a:srgbClr val="B67A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13232" y="5724144"/>
            <a:ext cx="106984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编号与日期来自上传PDF；法律状态、最早公开日期与补充检索仍需核验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电钻AI预测性维护研发进展与专利讨论</dc:title>
  <dc:subject>2026年10月9日导师讨论；讨论材料：12页正文＋2页备用</dc:subject>
  <dc:creator>项目研发汇报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