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本页展示GitHub项目a520770版本的app.py实际运行网页，截图来自本工作区Streamlit，而不是一个已连接真实工具的云端设备页面；未改动图表或运行结果，只截取网页对应区域。</a:t>
            </a:r>
          </a:p>
          <a:p>
            <a:r>
              <a:t>截图中的单次实验设置：电钻，中度（虚拟）生成条件，负载75%，转速1800r/min，时长2秒，环境25℃，随机种子42。损伤等级是用户设置的生成参数，不是模型识别出的真实磨损等级。振动、电流默认25600Hz，温度10Hz，图示为原始模拟振动波形；显示进行了点数压缩，不是显示全部51200点。</a:t>
            </a:r>
          </a:p>
          <a:p>
            <a:r>
              <a:t>已有批量实验来自artifacts/lab/runs.csv与manifest.json：3类工具（电钻、角磨机、冲击扳手）×4档生成等级×2档负载（25%、75%）×2个种子（42、43）=48次，每次2秒。它们是仿真运行记录，不是48台真实设备或48次物理试验。</a:t>
            </a:r>
          </a:p>
          <a:p>
            <a:r>
              <a:t>受控比较方法：固定工具、转速、负载、时长及种子，只改变损伤设定；另可固定损伤设定而改变负载，观察正常工况变化带来的影响。页面支持单独改变转速。固定种子便于复现，不代表重复运行提供新的独立物理证据。</a:t>
            </a:r>
          </a:p>
          <a:p>
            <a:r>
              <a:t>目前可验证信号生成、按通道的时间轴与单位、预处理、特征计算和导出接口。当前生成公式未经真实工具实测校准，不能凭模拟趋势证明故障规律或专利技术效果。新的原始波形虚拟台与旧六维特征仿真模型分开，不能直接互换特征或标签。</a:t>
            </a:r>
          </a:p>
          <a:p>
            <a:r>
              <a:t>任务书后续真实平台方案：选定工具及目标部件，确定传感器安装与采集参数，同步采集振动、电流、温度及转速/负载，使用独立检查确定标签，开展不同工况、不同设备、传感器质量与维修复测对照。目前尚未完成自有真实工具采集及5000组真实样本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的两张截图来自同一GitHub项目app.py运行网页。上图来自“模型与使用说明”中的实际三模型结果表，下图来自“公开轴承预验证”默认CWRU-X097第1窗的实际分析；模型将正常轴承误判为滚动体故障，因此不能把这张图写成成功识别。</a:t>
            </a:r>
          </a:p>
          <a:p>
            <a:r>
              <a:t>数据来自CWRU真实公开轴承台架驱动端振动，40个原始MAT文件，9346个窗口，类别为正常、内圈、滚动体、外圈。类别是故障部位，不是自然磨损严重度；输入只有单通道振动，不含真实电流、温度或工况输入，也没有HI与真实寿命输出。</a:t>
            </a:r>
          </a:p>
          <a:p>
            <a:r>
              <a:t>主协议按完整原始记录划分训练28、验证8、测试4条，对应6625、1894、827个窗口；同一记录的重叠窗口不跨分区。827窗不能视作827个独立轴承；不同记录还可能来自同一物理轴承，因此没有完成新物理设备验证。</a:t>
            </a:r>
          </a:p>
          <a:p>
            <a:r>
              <a:t>三种候选为轻量1D CNN、CNN+标准注意力、CNN+ELU+1核线性注意力。验证集选定linear，测试准确率81.378476%、宏平均F1 0.688912，参数5876。测试集没有用于选模型。</a:t>
            </a:r>
          </a:p>
          <a:p>
            <a:r>
              <a:t>总体准确率不能掩盖正常识别问题。正常测试仅一条X097记录、118窗，其中5窗被判正常、113窗被判故障，正常召回4.237288%，误报95.762712%。公开网页四舍五入显示95.8%，PPT右侧使用清单中的精确数据保留两位小数。当前没有证实这些误判的具体成因，需开展记录与预处理检查、更多正常样本、类别评价和独立记录对照，避免先给未经验证的原因结论。</a:t>
            </a:r>
          </a:p>
          <a:p>
            <a:r>
              <a:t>CPU处理+推理P95约1.159ms仅含原始窗口处理和模型推理，不含硬件采集、磁盘、网络或网页渲染，也不是MCU验证；截图表格保留这一范围说明。线性注意力尚没有稳定整体加速证据。</a:t>
            </a:r>
          </a:p>
          <a:p>
            <a:r>
              <a:t>另有负载3留出的补充协议，重新训练后默认模型测试准确率90.13%；协议不同，不能将其当成主模型改善后的效果，也不能只挑更好的数字代替主协议。完整比较见docs/phase2/公开轴承模型实验报告.md。</a:t>
            </a:r>
          </a:p>
          <a:p>
            <a:r>
              <a:t>本阶段可以汇报已接入真实公开波形并跑通分类预验证，初步发现正常误报问题。不能宣称已经达到现场故障诊断、真实RUL、MCU部署或专利技术效果目标。后续开展真实工具同步多源采集，并按独立设备及完整退化试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74904"/>
            <a:ext cx="10863072" cy="68580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实验设计：虚拟电动工具平台</a:t>
            </a:r>
          </a:p>
        </p:txBody>
      </p:sp>
      <p:pic>
        <p:nvPicPr>
          <p:cNvPr id="3" name="虚拟实验_参数与状态.png" descr="虚拟实验_参数与状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53312"/>
            <a:ext cx="6217920" cy="2443009"/>
          </a:xfrm>
          <a:prstGeom prst="rect">
            <a:avLst/>
          </a:prstGeom>
        </p:spPr>
      </p:pic>
      <p:pic>
        <p:nvPicPr>
          <p:cNvPr id="4" name="虚拟实验_振动波形.png" descr="虚拟实验_振动波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0208"/>
            <a:ext cx="6217920" cy="2571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133087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894"/>
                </a:solidFill>
                <a:latin typeface="Noto Sans CJK SC"/>
                <a:ea typeface="Noto Sans CJK SC"/>
              </a:rPr>
              <a:t>实验方法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920240"/>
            <a:ext cx="4133087" cy="96012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固定工具和工况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只改变损伤设定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观察三种信号变化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246120"/>
            <a:ext cx="4133087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894"/>
                </a:solidFill>
                <a:latin typeface="Noto Sans CJK SC"/>
                <a:ea typeface="Noto Sans CJK SC"/>
              </a:rPr>
              <a:t>已有进展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749039"/>
            <a:ext cx="4133087" cy="100584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3 类工具、4 档设定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两档负载、两组随机种子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共 48 组仿真记录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138928"/>
            <a:ext cx="4133087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7E84"/>
                </a:solidFill>
                <a:latin typeface="Noto Sans CJK SC"/>
                <a:ea typeface="Noto Sans CJK SC"/>
              </a:rPr>
              <a:t>验证范围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650992"/>
            <a:ext cx="4133087" cy="77724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信号生成、处理与导出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43E50"/>
                </a:solidFill>
                <a:latin typeface="Noto Sans CJK SC"/>
                <a:ea typeface="Noto Sans CJK SC"/>
              </a:rPr>
              <a:t>实物采集和验证待开展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74904"/>
            <a:ext cx="10863072" cy="68580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初步验证：用公开数据检验故障识别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353312"/>
            <a:ext cx="6172200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56894"/>
                </a:solidFill>
                <a:latin typeface="Noto Sans CJK SC"/>
                <a:ea typeface="Noto Sans CJK SC"/>
              </a:rPr>
              <a:t>三种模型的测试结果</a:t>
            </a:r>
          </a:p>
        </p:txBody>
      </p:sp>
      <p:pic>
        <p:nvPicPr>
          <p:cNvPr id="4" name="公开数据_三模型验证对照.png" descr="公开数据_三模型验证对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83664"/>
            <a:ext cx="6217920" cy="1428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" y="3730752"/>
            <a:ext cx="6172200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54B43"/>
                </a:solidFill>
                <a:latin typeface="Noto Sans CJK SC"/>
                <a:ea typeface="Noto Sans CJK SC"/>
              </a:rPr>
              <a:t>正常记录被误判的示例</a:t>
            </a:r>
          </a:p>
        </p:txBody>
      </p:sp>
      <p:pic>
        <p:nvPicPr>
          <p:cNvPr id="6" name="公开数据_正常记录误判示例.png" descr="公开数据_正常记录误判示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70248"/>
            <a:ext cx="6217920" cy="1485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53312"/>
            <a:ext cx="4133087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894"/>
                </a:solidFill>
                <a:latin typeface="Noto Sans CJK SC"/>
                <a:ea typeface="Noto Sans CJK SC"/>
              </a:rPr>
              <a:t>数据与划分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65376"/>
            <a:ext cx="4133087" cy="758952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40 条公开振动记录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训练 28／验证 8／测试 4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852928"/>
            <a:ext cx="4133087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56894"/>
                </a:solidFill>
                <a:latin typeface="Noto Sans CJK SC"/>
                <a:ea typeface="Noto Sans CJK SC"/>
              </a:rPr>
              <a:t>总体测试准确率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28416"/>
            <a:ext cx="4133087" cy="603504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56894"/>
                </a:solidFill>
                <a:latin typeface="Noto Sans CJK SC"/>
                <a:ea typeface="Noto Sans CJK SC"/>
              </a:rPr>
              <a:t>81.38%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33672"/>
            <a:ext cx="4133087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54B43"/>
                </a:solidFill>
                <a:latin typeface="Noto Sans CJK SC"/>
                <a:ea typeface="Noto Sans CJK SC"/>
              </a:rPr>
              <a:t>正常窗口误报率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700016"/>
            <a:ext cx="4133087" cy="603504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B54B43"/>
                </a:solidFill>
                <a:latin typeface="Noto Sans CJK SC"/>
                <a:ea typeface="Noto Sans CJK SC"/>
              </a:rPr>
              <a:t>95.76%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477256"/>
            <a:ext cx="4133087" cy="758952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来自 1 条正常测试记录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共 118 个窗口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126480"/>
            <a:ext cx="6217920" cy="45720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6153912"/>
            <a:ext cx="5961888" cy="40233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下一步：分析误判、补充样本，再做真实工具实验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实验设计与初步验证：项目网页截图及阶段进展</dc:title>
  <dc:subject>虚拟实验设计与公开轴承分类结果，包含真实网页误判示例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