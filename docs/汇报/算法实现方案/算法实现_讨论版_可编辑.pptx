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易懂版讲解：</a:t>
            </a:r>
          </a:p>
          <a:p>
            <a:r>
              <a:t>1. 比较正常水平：先了解健康工具在这个转速和负载下通常是什么样，再看当前信号与它有多大差异。</a:t>
            </a:r>
          </a:p>
          <a:p>
            <a:r>
              <a:t>2. 结合数据质量：三种传感器一起参考，利用已有质量分数调整各通道的贡献，缺失通道不参与融合。这一步不表示模型已独立识别所有传感器异常。</a:t>
            </a:r>
          </a:p>
          <a:p>
            <a:r>
              <a:t>3. 观察连续变化：把前后多次测量联系起来，分析信号如何变化。对应Transformer关联历史窗口，LSTM汇总变化趋势；两者合并为通俗的一个步骤，并未删除模型层。</a:t>
            </a:r>
          </a:p>
          <a:p>
            <a:r>
              <a:t>4. 输出仿真结果：模型分别估计状态、健康程度和仿真寿命范围，送到网页展示与告警流程。不能把仿真寿命说成已验证的真实工具寿命。</a:t>
            </a:r>
          </a:p>
          <a:p>
            <a:r>
              <a:t>页面中的负载例子是对工况校正目的的说明，不是模型已经逐项验证的现场规则；持续越阈值告警属于后续逻辑。</a:t>
            </a:r>
          </a:p>
          <a:p>
            <a:r>
              <a:t>可直接口述：我先让算法参考当前转速和负载，比较信号与正常水平的差异；再结合三种传感器和数据质量，观察连续变化，最后给出状态与健康程度等仿真结果。目前完成了流程演示，真实工具的健康等级与寿命还需要实测验证。</a:t>
            </a:r>
          </a:p>
          <a:p/>
          <a:p>
            <a:r>
              <a:t>原技术说明保留在备注，供老师追问结构时参考：</a:t>
            </a:r>
          </a:p>
          <a:p>
            <a:r>
              <a:t>本页汇报已有代码的两条模型路径，两条分别训练，不能作为同一个多模态模型的联合验证结果。页面中“仿真模型”与“公开数据预验证”均为当前已实现代码，“下一步”为计划。</a:t>
            </a:r>
          </a:p>
          <a:p>
            <a:r>
              <a:t>讲解顺序：原来的Demo先模拟传感器特征，考虑工况和数据质量，再用Transformer与LSTM处理连续变化，输出状态、健康指标和仿真剩余寿命。现在还增加了一个直接使用公开真实振动波形的轻量分类模型，用来预验证故障部位识别。</a:t>
            </a:r>
          </a:p>
          <a:p>
            <a:r>
              <a:t>仿真模型：每次输入最近16个连续窗口，每窗六维特征分别为振动RMS、振动峭度、电流RMS、电流纹波、温升、温升斜率；另输入转速、负载、环境温度及三个质量分数。工况健康基线仅用训练集有标签的健康仿真记录拟合，使用负载、转速及环境温度解释正常变化，实际特征减去正常期望并按健康残差尺度缩放。这是减弱工况干扰的已实现方法，不表示已经证明完整工况解耦。</a:t>
            </a:r>
          </a:p>
          <a:p>
            <a:r>
              <a:t>三个传感器分支将各自两个特征映射到32维，结合工况和质量门控权重融合为16步×32维序列；缺失通道不参与融合，质量低会影响通道权重。随后加入位置与工况信息，通过一层32维、两头标准Transformer，再通过一层32维LSTM。Transformer关联历史窗口，LSTM汇总时间变化，两个作用可直接用日常语言解释。</a:t>
            </a:r>
          </a:p>
          <a:p>
            <a:r>
              <a:t>三个独立输出头分别产生四档仿真磨损阶段、0至1健康指数HI，以及有效运行小时RUL的10%、50%、90%分位数。状态以交叉熵训练，HI用均方误差，RUL用pinball分位数损失。HI监督来自仿真的1-wear，寿命监督也由仿真生成器设定，不能说已经验证了真实电钻寿命；风险1-HI也不是校准失效概率。</a:t>
            </a:r>
          </a:p>
          <a:p>
            <a:r>
              <a:t>网页告警与维修管理属于模型后续逻辑：依据风险和持续越阈值规则形成分级告警、工单及模拟维修复测。已有复测流程，但独立健康确认后的基线准入、更新验证与回退尚未全部实现。</a:t>
            </a:r>
          </a:p>
          <a:p>
            <a:r>
              <a:t>公开数据模型：CWRU驱动端单通道振动，每窗1024点，先按既定流程统一采样率、去均值、小波降噪，再使用训练集统计量标准化。轻量1D CNN使用深度可分离卷积压缩序列，输入形状1×1024变为8×256、16×128、24×64，再用ELU+1核线性注意力关联窗口内64个位置，经均值池化与线性分类器输出正常、内圈、滚动体、外圈。四类是故障部位，不是自然磨损等级；该模型没有HI或真实RUL输出。</a:t>
            </a:r>
          </a:p>
          <a:p>
            <a:r>
              <a:t>公开数据试验比较纯CNN、CNN+标准注意力、CNN+线性注意力，由验证集选择默认线性注意力模型。FFT与时域特征表用于解释，当前分类器直接输入处理后的波形，不使用这些特征表、电流、温度或实际工况。</a:t>
            </a:r>
          </a:p>
          <a:p>
            <a:r>
              <a:t>轻量化进度：仿真Transformer-LSTM有17789个参数，公开CNN+线性注意力有5876个参数。线性注意力在固定维度下避免构造位置数平方的关系矩阵，但不是标准softmax注意力的等价公式，需要重新训练和比较。CPU实测没有证明整体延迟稳定改善，也没有MCU部署或任务书70%算力降低指标的完整验证；当前仿真Transformer仍为标准注意力。</a:t>
            </a:r>
          </a:p>
          <a:p>
            <a:r>
              <a:t>公开数据主协议总体准确率81.38%、macro-F1约0.6889，留出正常记录召回率仅4.24%，说明正常识别泛化仍有明显问题。可讲作完成预验证、发现问题，不能称为可靠现场诊断。未在本页大字放指标，是为了避免总体准确率掩盖问题；详见公开轴承模型实验报告。</a:t>
            </a:r>
          </a:p>
          <a:p>
            <a:r>
              <a:t>后续采集真实工具多源同步数据，在独立工具、不同工况和完整退化轨迹上验证分类、严重度、HI与寿命；必要时把小型卷积编码、质量融合、线性注意力和LSTM组合为新的候选模型，再以独立数据评估，不能直接拼接已有两条模型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74904"/>
            <a:ext cx="10863072" cy="685800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5334A"/>
                </a:solidFill>
                <a:latin typeface="Noto Sans CJK SC"/>
                <a:ea typeface="Noto Sans CJK SC"/>
              </a:rPr>
              <a:t>算法如何判断工具状态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61872"/>
            <a:ext cx="10725912" cy="393192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56894"/>
                </a:solidFill>
                <a:latin typeface="Noto Sans CJK SC"/>
                <a:ea typeface="Noto Sans CJK SC"/>
              </a:rPr>
              <a:t>现有仿真 Demo 的处理思路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10512"/>
            <a:ext cx="10725912" cy="585216"/>
          </a:xfrm>
          <a:prstGeom prst="round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47088"/>
            <a:ext cx="10360152" cy="512064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E50"/>
                </a:solidFill>
                <a:latin typeface="Noto Sans CJK SC"/>
                <a:ea typeface="Noto Sans CJK SC"/>
              </a:rPr>
              <a:t>输入：振动、电流、温度的变化，以及转速、负载和数据质量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79776"/>
            <a:ext cx="2468880" cy="1399032"/>
          </a:xfrm>
          <a:prstGeom prst="roundRect">
            <a:avLst/>
          </a:prstGeom>
          <a:solidFill>
            <a:srgbClr val="E5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907792"/>
            <a:ext cx="2340864" cy="393192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47E84"/>
                </a:solidFill>
                <a:latin typeface="Noto Sans CJK SC"/>
                <a:ea typeface="Noto Sans CJK SC"/>
              </a:rPr>
              <a:t>比较正常水平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392424"/>
            <a:ext cx="2340864" cy="630936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E50"/>
                </a:solidFill>
                <a:latin typeface="Noto Sans CJK SC"/>
                <a:ea typeface="Noto Sans CJK SC"/>
              </a:rPr>
              <a:t>参考转速与负载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E50"/>
                </a:solidFill>
                <a:latin typeface="Noto Sans CJK SC"/>
                <a:ea typeface="Noto Sans CJK SC"/>
              </a:rPr>
              <a:t>对比正常信号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59836" y="3374136"/>
            <a:ext cx="164592" cy="201168"/>
          </a:xfrm>
          <a:prstGeom prst="rightArrow">
            <a:avLst/>
          </a:prstGeom>
          <a:solidFill>
            <a:srgbClr val="256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83863" y="2779776"/>
            <a:ext cx="2468880" cy="1399032"/>
          </a:xfrm>
          <a:prstGeom prst="roundRect">
            <a:avLst/>
          </a:prstGeom>
          <a:solidFill>
            <a:srgbClr val="E5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1" y="2907792"/>
            <a:ext cx="2340864" cy="393192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47E84"/>
                </a:solidFill>
                <a:latin typeface="Noto Sans CJK SC"/>
                <a:ea typeface="Noto Sans CJK SC"/>
              </a:rPr>
              <a:t>综合三种信号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1" y="3392424"/>
            <a:ext cx="2340864" cy="630936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E50"/>
                </a:solidFill>
                <a:latin typeface="Noto Sans CJK SC"/>
                <a:ea typeface="Noto Sans CJK SC"/>
              </a:rPr>
              <a:t>可靠数据多参考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E50"/>
                </a:solidFill>
                <a:latin typeface="Noto Sans CJK SC"/>
                <a:ea typeface="Noto Sans CJK SC"/>
              </a:rPr>
              <a:t>低质量数据少参考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12180" y="3374136"/>
            <a:ext cx="164592" cy="201168"/>
          </a:xfrm>
          <a:prstGeom prst="rightArrow">
            <a:avLst/>
          </a:prstGeom>
          <a:solidFill>
            <a:srgbClr val="256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36207" y="2779776"/>
            <a:ext cx="2468880" cy="1399032"/>
          </a:xfrm>
          <a:prstGeom prst="roundRect">
            <a:avLst/>
          </a:prstGeom>
          <a:solidFill>
            <a:srgbClr val="E5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2907792"/>
            <a:ext cx="2340864" cy="393192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47E84"/>
                </a:solidFill>
                <a:latin typeface="Noto Sans CJK SC"/>
                <a:ea typeface="Noto Sans CJK SC"/>
              </a:rPr>
              <a:t>观察连续变化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3392424"/>
            <a:ext cx="2340864" cy="630936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E50"/>
                </a:solidFill>
                <a:latin typeface="Noto Sans CJK SC"/>
                <a:ea typeface="Noto Sans CJK SC"/>
              </a:rPr>
              <a:t>联系前后测量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E50"/>
                </a:solidFill>
                <a:latin typeface="Noto Sans CJK SC"/>
                <a:ea typeface="Noto Sans CJK SC"/>
              </a:rPr>
              <a:t>观察变化趋势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64524" y="3374136"/>
            <a:ext cx="164592" cy="201168"/>
          </a:xfrm>
          <a:prstGeom prst="rightArrow">
            <a:avLst/>
          </a:prstGeom>
          <a:solidFill>
            <a:srgbClr val="256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88552" y="2779776"/>
            <a:ext cx="2468880" cy="1399032"/>
          </a:xfrm>
          <a:prstGeom prst="roundRect">
            <a:avLst/>
          </a:prstGeom>
          <a:solidFill>
            <a:srgbClr val="E5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2907792"/>
            <a:ext cx="2340864" cy="393192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47E84"/>
                </a:solidFill>
                <a:latin typeface="Noto Sans CJK SC"/>
                <a:ea typeface="Noto Sans CJK SC"/>
              </a:rPr>
              <a:t>输出仿真结果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392424"/>
            <a:ext cx="2340864" cy="630936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E50"/>
                </a:solidFill>
                <a:latin typeface="Noto Sans CJK SC"/>
                <a:ea typeface="Noto Sans CJK SC"/>
              </a:rPr>
              <a:t>状态与健康程度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E50"/>
                </a:solidFill>
                <a:latin typeface="Noto Sans CJK SC"/>
                <a:ea typeface="Noto Sans CJK SC"/>
              </a:rPr>
              <a:t>仿真寿命范围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10725912" cy="905256"/>
          </a:xfrm>
          <a:prstGeom prst="round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663440"/>
            <a:ext cx="10341864" cy="676656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243E50"/>
                </a:solidFill>
                <a:latin typeface="Noto Sans CJK SC"/>
                <a:ea typeface="Noto Sans CJK SC"/>
              </a:rPr>
              <a:t>例如：负载增加时，振动变大可能是正常变化；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243E50"/>
                </a:solidFill>
                <a:latin typeface="Noto Sans CJK SC"/>
                <a:ea typeface="Noto Sans CJK SC"/>
              </a:rPr>
              <a:t>同一工况下持续异常，则需要进一步检查。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5815584"/>
            <a:ext cx="10671048" cy="347472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5334A"/>
                </a:solidFill>
                <a:latin typeface="Noto Sans CJK SC"/>
                <a:ea typeface="Noto Sans CJK SC"/>
              </a:rPr>
              <a:t>当前：仿真结果已接入网页；公开轴承数据已用于故障部位分类。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6254496"/>
            <a:ext cx="10671048" cy="347472"/>
          </a:xfrm>
          <a:prstGeom prst="rect">
            <a:avLst/>
          </a:prstGeom>
          <a:noFill/>
        </p:spPr>
        <p:txBody>
          <a:bodyPr wrap="square" lIns="32004" rIns="32004" tIns="4572" bIns="4572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5334A"/>
                </a:solidFill>
                <a:latin typeface="Noto Sans CJK SC"/>
                <a:ea typeface="Noto Sans CJK SC"/>
              </a:rPr>
              <a:t>后续：采集真实多源数据，验证健康等级与寿命预测。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算法如何判断工具状态</dc:title>
  <dc:subject>易懂版：比较正常水平、综合三种信号、观察趋势及输出仿真结果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