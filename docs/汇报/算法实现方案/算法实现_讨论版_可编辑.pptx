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本页汇报已有代码的两条模型路径，两条分别训练，不能作为同一个多模态模型的联合验证结果。页面中“仿真模型”与“公开数据预验证”均为当前已实现代码，“下一步”为计划。</a:t>
            </a:r>
          </a:p>
          <a:p>
            <a:r>
              <a:t>讲解顺序：原来的Demo先模拟传感器特征，考虑工况和数据质量，再用Transformer与LSTM处理连续变化，输出状态、健康指标和仿真剩余寿命。现在还增加了一个直接使用公开真实振动波形的轻量分类模型，用来预验证故障部位识别。</a:t>
            </a:r>
          </a:p>
          <a:p>
            <a:r>
              <a:t>仿真模型：每次输入最近16个连续窗口，每窗六维特征分别为振动RMS、振动峭度、电流RMS、电流纹波、温升、温升斜率；另输入转速、负载、环境温度及三个质量分数。工况健康基线仅用训练集有标签的健康仿真记录拟合，使用负载、转速及环境温度解释正常变化，实际特征减去正常期望并按健康残差尺度缩放。这是减弱工况干扰的已实现方法，不表示已经证明完整工况解耦。</a:t>
            </a:r>
          </a:p>
          <a:p>
            <a:r>
              <a:t>三个传感器分支将各自两个特征映射到32维，结合工况和质量门控权重融合为16步×32维序列；缺失通道不参与融合，质量低会影响通道权重。随后加入位置与工况信息，通过一层32维、两头标准Transformer，再通过一层32维LSTM。Transformer关联历史窗口，LSTM汇总时间变化，两个作用可直接用日常语言解释。</a:t>
            </a:r>
          </a:p>
          <a:p>
            <a:r>
              <a:t>三个独立输出头分别产生四档仿真磨损阶段、0至1健康指数HI，以及有效运行小时RUL的10%、50%、90%分位数。状态以交叉熵训练，HI用均方误差，RUL用pinball分位数损失。HI监督来自仿真的1-wear，寿命监督也由仿真生成器设定，不能说已经验证了真实电钻寿命；风险1-HI也不是校准失效概率。</a:t>
            </a:r>
          </a:p>
          <a:p>
            <a:r>
              <a:t>网页告警与维修管理属于模型后续逻辑：依据风险和持续越阈值规则形成分级告警、工单及模拟维修复测。已有复测流程，但独立健康确认后的基线准入、更新验证与回退尚未全部实现。</a:t>
            </a:r>
          </a:p>
          <a:p>
            <a:r>
              <a:t>公开数据模型：CWRU驱动端单通道振动，每窗1024点，先按既定流程统一采样率、去均值、小波降噪，再使用训练集统计量标准化。轻量1D CNN使用深度可分离卷积压缩序列，输入形状1×1024变为8×256、16×128、24×64，再用ELU+1核线性注意力关联窗口内64个位置，经均值池化与线性分类器输出正常、内圈、滚动体、外圈。四类是故障部位，不是自然磨损等级；该模型没有HI或真实RUL输出。</a:t>
            </a:r>
          </a:p>
          <a:p>
            <a:r>
              <a:t>公开数据试验比较纯CNN、CNN+标准注意力、CNN+线性注意力，由验证集选择默认线性注意力模型。FFT与时域特征表用于解释，当前分类器直接输入处理后的波形，不使用这些特征表、电流、温度或实际工况。</a:t>
            </a:r>
          </a:p>
          <a:p>
            <a:r>
              <a:t>轻量化进度：仿真Transformer-LSTM有17789个参数，公开CNN+线性注意力有5876个参数。线性注意力在固定维度下避免构造位置数平方的关系矩阵，但不是标准softmax注意力的等价公式，需要重新训练和比较。CPU实测没有证明整体延迟稳定改善，也没有MCU部署或任务书70%算力降低指标的完整验证；当前仿真Transformer仍为标准注意力。</a:t>
            </a:r>
          </a:p>
          <a:p>
            <a:r>
              <a:t>公开数据主协议总体准确率81.38%、macro-F1约0.6889，留出正常记录召回率仅4.24%，说明正常识别泛化仍有明显问题。可讲作完成预验证、发现问题，不能称为可靠现场诊断。未在本页大字放指标，是为了避免总体准确率掩盖问题；详见公开轴承模型实验报告。</a:t>
            </a:r>
          </a:p>
          <a:p>
            <a:r>
              <a:t>后续采集真实工具多源同步数据，在独立工具、不同工况和完整退化轨迹上验证分类、严重度、HI与寿命；必要时把小型卷积编码、质量融合、线性注意力和LSTM组合为新的候选模型，再以独立数据评估，不能直接拼接已有两条模型的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374904"/>
            <a:ext cx="10863072" cy="685800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5334A"/>
                </a:solidFill>
                <a:latin typeface="Noto Sans CJK SC"/>
                <a:ea typeface="Noto Sans CJK SC"/>
              </a:rPr>
              <a:t>算法实现与验证进度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98448"/>
            <a:ext cx="10725912" cy="384048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56894"/>
                </a:solidFill>
                <a:latin typeface="Noto Sans CJK SC"/>
                <a:ea typeface="Noto Sans CJK SC"/>
              </a:rPr>
              <a:t>现有仿真模型：多源健康与寿命演示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01368"/>
            <a:ext cx="10725912" cy="484632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429768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输入：振动／电流／温度特征＋转速／负载＋传感器质量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87168"/>
            <a:ext cx="1965960" cy="10515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" y="2542032"/>
            <a:ext cx="1865376" cy="356616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56894"/>
                </a:solidFill>
                <a:latin typeface="Noto Sans CJK SC"/>
                <a:ea typeface="Noto Sans CJK SC"/>
              </a:rPr>
              <a:t>工况校正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" y="2916936"/>
            <a:ext cx="1865376" cy="566928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减弱工况干扰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38628" y="2916936"/>
            <a:ext cx="137160" cy="173736"/>
          </a:xfrm>
          <a:prstGeom prst="rightArrow">
            <a:avLst/>
          </a:prstGeom>
          <a:solidFill>
            <a:srgbClr val="256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21508" y="2487168"/>
            <a:ext cx="1965960" cy="10515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542032"/>
            <a:ext cx="1865376" cy="356616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56894"/>
                </a:solidFill>
                <a:latin typeface="Noto Sans CJK SC"/>
                <a:ea typeface="Noto Sans CJK SC"/>
              </a:rPr>
              <a:t>质量门控融合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916936"/>
            <a:ext cx="1865376" cy="566928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控制通道贡献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28616" y="2916936"/>
            <a:ext cx="137160" cy="173736"/>
          </a:xfrm>
          <a:prstGeom prst="rightArrow">
            <a:avLst/>
          </a:prstGeom>
          <a:solidFill>
            <a:srgbClr val="256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11496" y="2487168"/>
            <a:ext cx="1965960" cy="10515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1788" y="2542032"/>
            <a:ext cx="1865376" cy="356616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56894"/>
                </a:solidFill>
                <a:latin typeface="Noto Sans CJK SC"/>
                <a:ea typeface="Noto Sans CJK SC"/>
              </a:rPr>
              <a:t>Transformer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1788" y="2916936"/>
            <a:ext cx="1865376" cy="566928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关联窗口信息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18604" y="2916936"/>
            <a:ext cx="137160" cy="173736"/>
          </a:xfrm>
          <a:prstGeom prst="rightArrow">
            <a:avLst/>
          </a:prstGeom>
          <a:solidFill>
            <a:srgbClr val="256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01484" y="2487168"/>
            <a:ext cx="1965960" cy="10515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51776" y="2542032"/>
            <a:ext cx="1865376" cy="356616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56894"/>
                </a:solidFill>
                <a:latin typeface="Noto Sans CJK SC"/>
                <a:ea typeface="Noto Sans CJK SC"/>
              </a:rPr>
              <a:t>LSTM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1776" y="2916936"/>
            <a:ext cx="1865376" cy="566928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汇总变化趋势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308592" y="2916936"/>
            <a:ext cx="137160" cy="173736"/>
          </a:xfrm>
          <a:prstGeom prst="rightArrow">
            <a:avLst/>
          </a:prstGeom>
          <a:solidFill>
            <a:srgbClr val="256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91472" y="2487168"/>
            <a:ext cx="1965960" cy="10515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1764" y="2542032"/>
            <a:ext cx="1865376" cy="356616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56894"/>
                </a:solidFill>
                <a:latin typeface="Noto Sans CJK SC"/>
                <a:ea typeface="Noto Sans CJK SC"/>
              </a:rPr>
              <a:t>多任务输出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41764" y="2916936"/>
            <a:ext cx="1865376" cy="566928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状态／健康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仿真寿命区间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657600"/>
            <a:ext cx="10689336" cy="329184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输出接入：网页展示、分级告警、维修工单与复测流程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178808"/>
            <a:ext cx="10725912" cy="384048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47E84"/>
                </a:solidFill>
                <a:latin typeface="Noto Sans CJK SC"/>
                <a:ea typeface="Noto Sans CJK SC"/>
              </a:rPr>
              <a:t>公开数据预验证：轴承故障部位分类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727448"/>
            <a:ext cx="2468880" cy="1033271"/>
          </a:xfrm>
          <a:prstGeom prst="roundRect">
            <a:avLst/>
          </a:prstGeom>
          <a:solidFill>
            <a:srgbClr val="E5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4782312"/>
            <a:ext cx="2340864" cy="347472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7E84"/>
                </a:solidFill>
                <a:latin typeface="Noto Sans CJK SC"/>
                <a:ea typeface="Noto Sans CJK SC"/>
              </a:rPr>
              <a:t>振动波形窗口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5157216"/>
            <a:ext cx="2340864" cy="548640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经降噪与标准化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259836" y="5152644"/>
            <a:ext cx="164592" cy="182880"/>
          </a:xfrm>
          <a:prstGeom prst="rightArrow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83863" y="4727448"/>
            <a:ext cx="2468880" cy="1033271"/>
          </a:xfrm>
          <a:prstGeom prst="roundRect">
            <a:avLst/>
          </a:prstGeom>
          <a:solidFill>
            <a:srgbClr val="E5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47871" y="4782312"/>
            <a:ext cx="2340864" cy="347472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7E84"/>
                </a:solidFill>
                <a:latin typeface="Noto Sans CJK SC"/>
                <a:ea typeface="Noto Sans CJK SC"/>
              </a:rPr>
              <a:t>轻量 1D CNN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47871" y="5157216"/>
            <a:ext cx="2340864" cy="548640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提取波形特征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012180" y="5152644"/>
            <a:ext cx="164592" cy="182880"/>
          </a:xfrm>
          <a:prstGeom prst="rightArrow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36207" y="4727448"/>
            <a:ext cx="2468880" cy="1033271"/>
          </a:xfrm>
          <a:prstGeom prst="roundRect">
            <a:avLst/>
          </a:prstGeom>
          <a:solidFill>
            <a:srgbClr val="E5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0216" y="4782312"/>
            <a:ext cx="2340864" cy="347472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7E84"/>
                </a:solidFill>
                <a:latin typeface="Noto Sans CJK SC"/>
                <a:ea typeface="Noto Sans CJK SC"/>
              </a:rPr>
              <a:t>线性注意力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0216" y="5157216"/>
            <a:ext cx="2340864" cy="548640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关联窗口内位置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764524" y="5152644"/>
            <a:ext cx="164592" cy="182880"/>
          </a:xfrm>
          <a:prstGeom prst="rightArrow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988552" y="4727448"/>
            <a:ext cx="2468880" cy="1033271"/>
          </a:xfrm>
          <a:prstGeom prst="roundRect">
            <a:avLst/>
          </a:prstGeom>
          <a:solidFill>
            <a:srgbClr val="E5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0" y="4782312"/>
            <a:ext cx="2340864" cy="347472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7E84"/>
                </a:solidFill>
                <a:latin typeface="Noto Sans CJK SC"/>
                <a:ea typeface="Noto Sans CJK SC"/>
              </a:rPr>
              <a:t>故障部位分类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5157216"/>
            <a:ext cx="2340864" cy="548640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正常／内圈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E50"/>
                </a:solidFill>
                <a:latin typeface="Noto Sans CJK SC"/>
                <a:ea typeface="Noto Sans CJK SC"/>
              </a:rPr>
              <a:t>滚动体／外圈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6053328"/>
            <a:ext cx="10725912" cy="457200"/>
          </a:xfrm>
          <a:prstGeom prst="round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" y="6080760"/>
            <a:ext cx="10396728" cy="402336"/>
          </a:xfrm>
          <a:prstGeom prst="rect">
            <a:avLst/>
          </a:prstGeom>
          <a:noFill/>
        </p:spPr>
        <p:txBody>
          <a:bodyPr wrap="square" lIns="32004" rIns="32004" tIns="4572" bIns="4572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5334A"/>
                </a:solidFill>
                <a:latin typeface="Noto Sans CJK SC"/>
                <a:ea typeface="Noto Sans CJK SC"/>
              </a:rPr>
              <a:t>下一步：接入真实多源数据，重训并验证健康等级与寿命预测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算法实现与验证进度</dc:title>
  <dc:subject>仿真Transformer-LSTM与公开振动轻量分类模型的实际进展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