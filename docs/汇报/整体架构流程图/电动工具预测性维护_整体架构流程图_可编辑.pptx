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图依据发明专利研发任务书整理拟定整体方案，图内模块及算法路线不代表均已在实物工具完成验证。当前公开CWRU模型仍仅为振动故障分类；NASA资料用于趋势探索，多模态与维修流程有独立仿真链路。Transformer–LSTM、蒸馏和线性注意力为拟定模型路线与可选改进，最终选择由数据、对照与部署验证确定。</a:t>
            </a:r>
          </a:p>
          <a:p>
            <a:r>
              <a:t>第三步拟开展工况解耦：利用转速和负载信息，减弱工况变化对健康特征的干扰，融合多源特征。当前条件健康参考是原型基础，完整解耦机制及其效果仍需验证。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65760"/>
            <a:ext cx="11365992" cy="585216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17304B"/>
                </a:solidFill>
                <a:latin typeface="Microsoft YaHei"/>
                <a:ea typeface="Microsoft YaHei"/>
                <a:cs typeface="Microsoft YaHei"/>
              </a:rPr>
              <a:t>拟定整体架构</a:t>
            </a:r>
          </a:p>
        </p:txBody>
      </p:sp>
      <p:sp>
        <p:nvSpPr>
          <p:cNvPr id="3" name="步骤1背景"/>
          <p:cNvSpPr/>
          <p:nvPr/>
        </p:nvSpPr>
        <p:spPr>
          <a:xfrm>
            <a:off x="502920" y="1362456"/>
            <a:ext cx="3429000" cy="1993392"/>
          </a:xfrm>
          <a:prstGeom prst="roundRect">
            <a:avLst>
              <a:gd name="adj" fmla="val 8000"/>
            </a:avLst>
          </a:prstGeom>
          <a:solidFill>
            <a:srgbClr val="EAF2FC"/>
          </a:solidFill>
          <a:ln w="12700">
            <a:solidFill>
              <a:srgbClr val="CD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步骤1编号"/>
          <p:cNvSpPr/>
          <p:nvPr/>
        </p:nvSpPr>
        <p:spPr>
          <a:xfrm>
            <a:off x="713232" y="1545336"/>
            <a:ext cx="420624" cy="420624"/>
          </a:xfrm>
          <a:prstGeom prst="ellipse">
            <a:avLst/>
          </a:prstGeom>
          <a:solidFill>
            <a:srgbClr val="376F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5" name="步骤1标题"/>
          <p:cNvSpPr txBox="1"/>
          <p:nvPr/>
        </p:nvSpPr>
        <p:spPr>
          <a:xfrm>
            <a:off x="1261872" y="1536192"/>
            <a:ext cx="2487168" cy="3931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376FA9"/>
                </a:solidFill>
                <a:latin typeface="Microsoft YaHei"/>
                <a:ea typeface="Microsoft YaHei"/>
                <a:cs typeface="Microsoft YaHei"/>
              </a:rPr>
              <a:t>数据采集</a:t>
            </a:r>
          </a:p>
        </p:txBody>
      </p:sp>
      <p:sp>
        <p:nvSpPr>
          <p:cNvPr id="6" name="步骤1内容"/>
          <p:cNvSpPr txBox="1"/>
          <p:nvPr/>
        </p:nvSpPr>
        <p:spPr>
          <a:xfrm>
            <a:off x="768096" y="2130552"/>
            <a:ext cx="2898648" cy="1042415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振动／电流／温度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转速／负载</a:t>
            </a:r>
          </a:p>
        </p:txBody>
      </p:sp>
      <p:sp>
        <p:nvSpPr>
          <p:cNvPr id="7" name="步骤2背景"/>
          <p:cNvSpPr/>
          <p:nvPr/>
        </p:nvSpPr>
        <p:spPr>
          <a:xfrm>
            <a:off x="4379976" y="1362456"/>
            <a:ext cx="3429000" cy="1993392"/>
          </a:xfrm>
          <a:prstGeom prst="roundRect">
            <a:avLst>
              <a:gd name="adj" fmla="val 8000"/>
            </a:avLst>
          </a:prstGeom>
          <a:solidFill>
            <a:srgbClr val="E8F5F2"/>
          </a:solidFill>
          <a:ln w="12700">
            <a:solidFill>
              <a:srgbClr val="CD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步骤2编号"/>
          <p:cNvSpPr/>
          <p:nvPr/>
        </p:nvSpPr>
        <p:spPr>
          <a:xfrm>
            <a:off x="4590288" y="1545336"/>
            <a:ext cx="420624" cy="420624"/>
          </a:xfrm>
          <a:prstGeom prst="ellipse">
            <a:avLst/>
          </a:prstGeom>
          <a:solidFill>
            <a:srgbClr val="2B877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9" name="步骤2标题"/>
          <p:cNvSpPr txBox="1"/>
          <p:nvPr/>
        </p:nvSpPr>
        <p:spPr>
          <a:xfrm>
            <a:off x="5138928" y="1536192"/>
            <a:ext cx="2487168" cy="3931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2B877F"/>
                </a:solidFill>
                <a:latin typeface="Microsoft YaHei"/>
                <a:ea typeface="Microsoft YaHei"/>
                <a:cs typeface="Microsoft YaHei"/>
              </a:rPr>
              <a:t>预处理与特征</a:t>
            </a:r>
          </a:p>
        </p:txBody>
      </p:sp>
      <p:sp>
        <p:nvSpPr>
          <p:cNvPr id="10" name="步骤2内容"/>
          <p:cNvSpPr txBox="1"/>
          <p:nvPr/>
        </p:nvSpPr>
        <p:spPr>
          <a:xfrm>
            <a:off x="4645152" y="2130552"/>
            <a:ext cx="2898648" cy="1042415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小波降噪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振动频域／电流谐波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温度趋势</a:t>
            </a:r>
          </a:p>
        </p:txBody>
      </p:sp>
      <p:sp>
        <p:nvSpPr>
          <p:cNvPr id="11" name="步骤3背景"/>
          <p:cNvSpPr/>
          <p:nvPr/>
        </p:nvSpPr>
        <p:spPr>
          <a:xfrm>
            <a:off x="8257031" y="1362456"/>
            <a:ext cx="3429000" cy="1993392"/>
          </a:xfrm>
          <a:prstGeom prst="roundRect">
            <a:avLst>
              <a:gd name="adj" fmla="val 8000"/>
            </a:avLst>
          </a:prstGeom>
          <a:solidFill>
            <a:srgbClr val="FFF5E4"/>
          </a:solidFill>
          <a:ln w="12700">
            <a:solidFill>
              <a:srgbClr val="CD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步骤3编号"/>
          <p:cNvSpPr/>
          <p:nvPr/>
        </p:nvSpPr>
        <p:spPr>
          <a:xfrm>
            <a:off x="8467344" y="1545336"/>
            <a:ext cx="420624" cy="420624"/>
          </a:xfrm>
          <a:prstGeom prst="ellipse">
            <a:avLst/>
          </a:prstGeom>
          <a:solidFill>
            <a:srgbClr val="AF80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3" name="步骤3标题"/>
          <p:cNvSpPr txBox="1"/>
          <p:nvPr/>
        </p:nvSpPr>
        <p:spPr>
          <a:xfrm>
            <a:off x="9015984" y="1536192"/>
            <a:ext cx="2487168" cy="3931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AF8037"/>
                </a:solidFill>
                <a:latin typeface="Microsoft YaHei"/>
                <a:ea typeface="Microsoft YaHei"/>
                <a:cs typeface="Microsoft YaHei"/>
              </a:rPr>
              <a:t>工况解耦与融合</a:t>
            </a:r>
          </a:p>
        </p:txBody>
      </p:sp>
      <p:sp>
        <p:nvSpPr>
          <p:cNvPr id="14" name="步骤3内容"/>
          <p:cNvSpPr txBox="1"/>
          <p:nvPr/>
        </p:nvSpPr>
        <p:spPr>
          <a:xfrm>
            <a:off x="8522207" y="2130552"/>
            <a:ext cx="2898648" cy="1042415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转速／负载作为输入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减弱工况变化干扰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融合多源健康特征</a:t>
            </a:r>
          </a:p>
        </p:txBody>
      </p:sp>
      <p:sp>
        <p:nvSpPr>
          <p:cNvPr id="15" name="步骤4背景"/>
          <p:cNvSpPr/>
          <p:nvPr/>
        </p:nvSpPr>
        <p:spPr>
          <a:xfrm>
            <a:off x="8257031" y="4224528"/>
            <a:ext cx="3429000" cy="1993392"/>
          </a:xfrm>
          <a:prstGeom prst="roundRect">
            <a:avLst>
              <a:gd name="adj" fmla="val 8000"/>
            </a:avLst>
          </a:prstGeom>
          <a:solidFill>
            <a:srgbClr val="F0ECF9"/>
          </a:solidFill>
          <a:ln w="12700">
            <a:solidFill>
              <a:srgbClr val="CD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步骤4编号"/>
          <p:cNvSpPr/>
          <p:nvPr/>
        </p:nvSpPr>
        <p:spPr>
          <a:xfrm>
            <a:off x="8467344" y="4407408"/>
            <a:ext cx="420624" cy="420624"/>
          </a:xfrm>
          <a:prstGeom prst="ellipse">
            <a:avLst/>
          </a:prstGeom>
          <a:solidFill>
            <a:srgbClr val="7960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步骤4标题"/>
          <p:cNvSpPr txBox="1"/>
          <p:nvPr/>
        </p:nvSpPr>
        <p:spPr>
          <a:xfrm>
            <a:off x="9015984" y="4398264"/>
            <a:ext cx="2487168" cy="3931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7960A6"/>
                </a:solidFill>
                <a:latin typeface="Microsoft YaHei"/>
                <a:ea typeface="Microsoft YaHei"/>
                <a:cs typeface="Microsoft YaHei"/>
              </a:rPr>
              <a:t>轻量化预测</a:t>
            </a:r>
          </a:p>
        </p:txBody>
      </p:sp>
      <p:sp>
        <p:nvSpPr>
          <p:cNvPr id="18" name="步骤4内容"/>
          <p:cNvSpPr txBox="1"/>
          <p:nvPr/>
        </p:nvSpPr>
        <p:spPr>
          <a:xfrm>
            <a:off x="8522207" y="4992624"/>
            <a:ext cx="2898648" cy="1042415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Transformer–LSTM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可选：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蒸馏／线性注意力</a:t>
            </a:r>
          </a:p>
        </p:txBody>
      </p:sp>
      <p:sp>
        <p:nvSpPr>
          <p:cNvPr id="19" name="步骤5背景"/>
          <p:cNvSpPr/>
          <p:nvPr/>
        </p:nvSpPr>
        <p:spPr>
          <a:xfrm>
            <a:off x="4379976" y="4224528"/>
            <a:ext cx="3429000" cy="1993392"/>
          </a:xfrm>
          <a:prstGeom prst="roundRect">
            <a:avLst>
              <a:gd name="adj" fmla="val 8000"/>
            </a:avLst>
          </a:prstGeom>
          <a:solidFill>
            <a:srgbClr val="FFF0E9"/>
          </a:solidFill>
          <a:ln w="12700">
            <a:solidFill>
              <a:srgbClr val="CD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步骤5编号"/>
          <p:cNvSpPr/>
          <p:nvPr/>
        </p:nvSpPr>
        <p:spPr>
          <a:xfrm>
            <a:off x="4590288" y="4407408"/>
            <a:ext cx="420624" cy="420624"/>
          </a:xfrm>
          <a:prstGeom prst="ellipse">
            <a:avLst/>
          </a:prstGeom>
          <a:solidFill>
            <a:srgbClr val="B870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1" name="步骤5标题"/>
          <p:cNvSpPr txBox="1"/>
          <p:nvPr/>
        </p:nvSpPr>
        <p:spPr>
          <a:xfrm>
            <a:off x="5138928" y="4398264"/>
            <a:ext cx="2487168" cy="3931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B87049"/>
                </a:solidFill>
                <a:latin typeface="Microsoft YaHei"/>
                <a:ea typeface="Microsoft YaHei"/>
                <a:cs typeface="Microsoft YaHei"/>
              </a:rPr>
              <a:t>健康分级</a:t>
            </a:r>
          </a:p>
        </p:txBody>
      </p:sp>
      <p:sp>
        <p:nvSpPr>
          <p:cNvPr id="22" name="步骤5内容"/>
          <p:cNvSpPr txBox="1"/>
          <p:nvPr/>
        </p:nvSpPr>
        <p:spPr>
          <a:xfrm>
            <a:off x="4645152" y="4992624"/>
            <a:ext cx="2898648" cy="1042415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健康指标／剩余寿命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风险阈值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正常／预警／故障</a:t>
            </a:r>
          </a:p>
        </p:txBody>
      </p:sp>
      <p:sp>
        <p:nvSpPr>
          <p:cNvPr id="23" name="步骤6背景"/>
          <p:cNvSpPr/>
          <p:nvPr/>
        </p:nvSpPr>
        <p:spPr>
          <a:xfrm>
            <a:off x="502920" y="4224528"/>
            <a:ext cx="3429000" cy="1993392"/>
          </a:xfrm>
          <a:prstGeom prst="roundRect">
            <a:avLst>
              <a:gd name="adj" fmla="val 8000"/>
            </a:avLst>
          </a:prstGeom>
          <a:solidFill>
            <a:srgbClr val="EBF4ED"/>
          </a:solidFill>
          <a:ln w="12700">
            <a:solidFill>
              <a:srgbClr val="CDD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步骤6编号"/>
          <p:cNvSpPr/>
          <p:nvPr/>
        </p:nvSpPr>
        <p:spPr>
          <a:xfrm>
            <a:off x="713232" y="4407408"/>
            <a:ext cx="420624" cy="420624"/>
          </a:xfrm>
          <a:prstGeom prst="ellipse">
            <a:avLst/>
          </a:prstGeom>
          <a:solidFill>
            <a:srgbClr val="4B85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5" name="步骤6标题"/>
          <p:cNvSpPr txBox="1"/>
          <p:nvPr/>
        </p:nvSpPr>
        <p:spPr>
          <a:xfrm>
            <a:off x="1261872" y="4398264"/>
            <a:ext cx="2487168" cy="393192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4B855F"/>
                </a:solidFill>
                <a:latin typeface="Microsoft YaHei"/>
                <a:ea typeface="Microsoft YaHei"/>
                <a:cs typeface="Microsoft YaHei"/>
              </a:rPr>
              <a:t>维保提醒与展示</a:t>
            </a:r>
          </a:p>
        </p:txBody>
      </p:sp>
      <p:sp>
        <p:nvSpPr>
          <p:cNvPr id="26" name="步骤6内容"/>
          <p:cNvSpPr txBox="1"/>
          <p:nvPr/>
        </p:nvSpPr>
        <p:spPr>
          <a:xfrm>
            <a:off x="768096" y="4992624"/>
            <a:ext cx="2898648" cy="1042415"/>
          </a:xfrm>
          <a:prstGeom prst="rect">
            <a:avLst/>
          </a:prstGeom>
          <a:noFill/>
        </p:spPr>
        <p:txBody>
          <a:bodyPr wrap="none" lIns="9144" rIns="9144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网页／APP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多工具管理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0">
                <a:solidFill>
                  <a:srgbClr val="24364B"/>
                </a:solidFill>
                <a:latin typeface="Microsoft YaHei"/>
                <a:ea typeface="Microsoft YaHei"/>
                <a:cs typeface="Microsoft YaHei"/>
              </a:rPr>
              <a:t>分级提醒</a:t>
            </a:r>
          </a:p>
        </p:txBody>
      </p:sp>
      <p:sp>
        <p:nvSpPr>
          <p:cNvPr id="27" name="连接1至2"/>
          <p:cNvSpPr/>
          <p:nvPr/>
        </p:nvSpPr>
        <p:spPr>
          <a:xfrm>
            <a:off x="3995928" y="2249424"/>
            <a:ext cx="310896" cy="219456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69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连接2至3"/>
          <p:cNvSpPr/>
          <p:nvPr/>
        </p:nvSpPr>
        <p:spPr>
          <a:xfrm>
            <a:off x="7872983" y="2249424"/>
            <a:ext cx="310896" cy="219456"/>
          </a:xfrm>
          <a:prstGeom prst="rightArrow">
            <a:avLst>
              <a:gd name="adj1" fmla="val 50000"/>
              <a:gd name="adj2" fmla="val 35000"/>
            </a:avLst>
          </a:prstGeom>
          <a:solidFill>
            <a:srgbClr val="69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连接3至4"/>
          <p:cNvSpPr/>
          <p:nvPr/>
        </p:nvSpPr>
        <p:spPr>
          <a:xfrm>
            <a:off x="9848088" y="3547872"/>
            <a:ext cx="256032" cy="484632"/>
          </a:xfrm>
          <a:prstGeom prst="downArrow">
            <a:avLst>
              <a:gd name="adj1" fmla="val 50000"/>
              <a:gd name="adj2" fmla="val 35000"/>
            </a:avLst>
          </a:prstGeom>
          <a:solidFill>
            <a:srgbClr val="69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连接4至5"/>
          <p:cNvSpPr/>
          <p:nvPr/>
        </p:nvSpPr>
        <p:spPr>
          <a:xfrm>
            <a:off x="7872983" y="5111496"/>
            <a:ext cx="310896" cy="219456"/>
          </a:xfrm>
          <a:prstGeom prst="leftArrow">
            <a:avLst>
              <a:gd name="adj1" fmla="val 50000"/>
              <a:gd name="adj2" fmla="val 35000"/>
            </a:avLst>
          </a:prstGeom>
          <a:solidFill>
            <a:srgbClr val="69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连接5至6"/>
          <p:cNvSpPr/>
          <p:nvPr/>
        </p:nvSpPr>
        <p:spPr>
          <a:xfrm>
            <a:off x="3995928" y="5111496"/>
            <a:ext cx="310896" cy="219456"/>
          </a:xfrm>
          <a:prstGeom prst="leftArrow">
            <a:avLst>
              <a:gd name="adj1" fmla="val 50000"/>
              <a:gd name="adj2" fmla="val 35000"/>
            </a:avLst>
          </a:prstGeom>
          <a:solidFill>
            <a:srgbClr val="69809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