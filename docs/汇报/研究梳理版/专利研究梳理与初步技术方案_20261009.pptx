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主要汇报研究思路，不以平台功能作为主线。我想先讲自己如何理解任务书，已有技术能解决什么、仍需要在电钻场景验证什么，再讲Demo带来的认识，最后提出创新候选和采集实验方案。希望老师帮助确认技术问题、研究范围与资源路径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对任务的理解是：不仅要做分类，还要把信号和实际部件状态联系起来，再据此支持维护。电钻负载、转速和操作都会影响信号，所以信号增大不能直接解释为磨损。第一版建议聚焦一类电钻的轴承，不同时承诺电机、齿轮和三种工具的全部寿命。真实RUL需要连续退化轨迹和失效终点，因此先把故障识别与误报控制做好，再决定是否把RUL作为核心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前工作主要分三部分：原始任务书和路线已经梳理；上传19份PDF去重后18项，形成证据矩阵和创新边界报告；软件在电脑CPU上跑通仿真模型及维护工作流。这些是已有成果。真实数据、硬件台架、受控在线基线更新和完整数据库查新仍未完成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次是基于附件的初步技术比对。19个文件去重后18项，包含12项论文/学位论文和6项专利申请。核心方法和权利要求有对应定位；没有把数据库候选30篇当成已读全文，也没有宣称已完成国家知识产权局全面查新。任务书给的CN121637419A、CN121682762A尚未取得可核验全文，需补核验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把论文按问题组织，而不是只按题名排序。Wang主要做多方向振动图像融合；古玉锋等融合振动、电流、电压和温度；Guo把转速和负载与振动结合；DAGCN用域对抗和图结构处理变工况；张帆等研究Transformer-LSTM轴承寿命。它们说明融合和时序研究已有基础，但各自数据对象和实验不能直接替代手持电钻、通道故障与维修恢复验证。</a:t>
            </a:r>
          </a:p>
          <a:p/>
          <a:p>
            <a:r>
              <a:t>证据来源：文献依据：18项证据矩阵；核心论文方法与摘要定位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读这三个专利：电机方案已有负载基线动态阈值、持续报警和信噪比窗长；绕线设备方案已有工艺负载和摩擦残差分离；水泵方案已有多源信号与工况深度融合。具体技术条件不同，不等于某一个文本已覆盖我们全部方案，但不能简单改对象或重新命名就认为有创造性。申请公开A号并不证明已授权。</a:t>
            </a:r>
          </a:p>
          <a:p/>
          <a:p>
            <a:r>
              <a:t>证据来源：出处：CN121385628A权利要求1、8–10；CN121432174A权利要求1、2、5、9；CN122258007A权利要求1–9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是从文献比对和电钻场景提出的工程挑战，不是声称所有已有技术都没有解决。第一，启动与负载切换会造成观测变化；第二，安装松动、丢包和饱和会影响数据，但真实故障也会出现冲击，不能一见振幅大就屏蔽；第三，维修或换传感器会改变正常参考，直接更新可能吸收残余故障；第四，没有退化终点，就不能可靠解释RUL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任务书给出了方向，但有四类条件需要明确。范围同时包含三种工具、多部件、算法、MCU、维护提醒，初版可以聚焦。70%算力降低没有明确基准模型硬件；3到7天预警缺使用计划和失效定义；92%准确率、15%寿命误差也需要任务和统计口径。5000组窗口不是5000次独立试验。16周计划从九月开始与现在的资源状态需要重新对齐。我会把它们说成需补充的研究条件。</a:t>
            </a:r>
          </a:p>
          <a:p/>
          <a:p>
            <a:r>
              <a:t>证据来源：依据：用户原始《发明专利研发任务书》研究目标、核心创新点、预期成果及时间表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根据原型代码和实验形成的研究认识，不虚构个人现场测试。原型能帮助我理解完整数据链，发现质量与健康是不同概念，确认固定历史窗口与长期寿命不同，也看到维修工作流不等于基线恢复机制。现有实验表明纯LSTM并不差，可以避免为了网络名字增加复杂度。若老师问使用体验，我应补充自己的实际操作情况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规模为30台虚拟电钻、6000个一分钟窗口，按设备21/6/3划分，测试459个相关序列。组合模型95.64%，无工况校正82.35%，提示工况参考值得研究，但生成公式本身含负载效应，不能据此保证真实效果。代码中fixed_fusion仍保留可学习门控，仅去掉连续质量乘子，因此本版更准确叫去质量幅值约束，不能把94.55当作真正等权融合结果。</a:t>
            </a:r>
          </a:p>
          <a:p/>
          <a:p>
            <a:r>
              <a:t>证据来源：数据：artifacts/experiment_results.json；代码核对：model.py中的quality_gate开关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建议把第一候选聚焦工况和质量联合控制退化证据。输入不是只做特征加权，还要决定窗口能否进入历史和报警累积、何时恢复、何时输出未知，并约束漏报和延迟。维修后基线受控更新可作为第二候选或后续延伸，视技术耦合和资源决定是否并入同一独立方案。二者都是待研发想法，未证明新颖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架构先采用传感器与DAQ加电脑，减少在采样固件、模型算子和APP之间同时遇到问题。电脑负责波形检查、特征、基线、准入、模型和实验管理。之后如果准确性和资源指标成立，再选边缘硬件及手机网关。图是拟搭建真实方案，不是已完成硬件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选清单没有采购也没有实测。优先借用IEPE加速度计、同步DAQ和扭矩负载台架。如果资源不足，可考虑ADXL1002模拟加速度计、隔离霍尔电流、K型热电偶、光电转速、动态扭矩，以及AD7606B外置ADC配STM32H743。但须核验型号带宽量程、输入调理和固件，不能把开发板自身ADC视为已经满足高频同步。成本取决于实验室现有资源，不虚构报价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械链路为电钻固定夹具、联轴器、动态扭矩传感器、制动器或负载装置。正式连接前需核验额定扭矩转速、对中、刚性与防护。加速度计安装在靠近目标轴承的刚性部位，电流取低压供电母线，温度在可达表面并测环境温度。若商业电钻轴承不可拆检或内部转速不可确认，先用可拆换轴承的电机传动台架验证机制，再补真实电钻迁移证据，不能混称同一验证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阶段获取真实波形，去偏、因果滤波、抗混叠和时间同步，并提取RMS、峭度、频带能量，阶次与包络要根据转速和结构选择。质量用缺失、饱和、卡死、同步误差等独立指标，不拿振动增大直接判低质量。初步选条件回归基线加小型LSTM，也保留规则阈值与树模型等简单对照。再增加联合准入。Transformer-LSTM作为已有对照，只有显著有效再保留。RUL有真实寿命轨迹才做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拟先做3个可分辨转速和3个安全范围内的扭矩档位，数值由试采确认。这是9个工况，不是与控制器相矛盾的随意给值。每工况重复运行，记录实际转速和负载。健康与确认缺陷样本应有独立检查，丢包/同步/噪声可对记录离线注入作为数据故障；安装问题需记录真实状态。分设备和寿命段划分后才生成窗口。固定缺陷分类不等于渐进寿命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建议用里程碑安排，不预设所有任务在固定周数完成。先确认近邻资料、主线、实验资源；再完成健康工况采集和标签规范；第三步机制消融和失败样例；第四步写实施例和权利要求讨论稿。与老师确认时间、人力和台架后重排12月底目标，不保证真实寿命数据能及时取得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希望形成具体决定。第一，是否认可从工况与质量共同造成的证据污染切入；第二，第一版限定哪种电钻与目标部件，RUL是否后置；第三，现成传感器DAQ负载台架及标签资源；第四，若电钻不便拆检，能否先做传动台架机制验证；第五，主线与维修延伸是否一起做；第六，下一轮最小实验与交底需要哪些证据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是核心出处，不是把每篇论文全文全部复现。日期以附件标注为依据，还需数据库核验。IEEE论文初次在线发表与卷期年份可能不同。多模态机器人主要指运动模式，不能误作电机异构传感器融合证据。术语必须按具体对象读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有Demo每步是一分钟模拟特征，16步用于当前判断，没有真实12.8或25.6kHz波形，也没有长周期寿命。拟采集高频振动电流先用2秒短窗；温度低频对齐而不伪造高频信息。若做分钟级健康趋势，要另行聚合与重新训练，不能把同样16步从分钟换成秒仍沿用原模型。保留原波形和质量标志使问题可追溯。</a:t>
            </a:r>
          </a:p>
          <a:p/>
          <a:p>
            <a:r>
              <a:t>证据来源：项目代码、仿真实验报告与附件技术比对｜2026-10-08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导师讨论 · 2026年10月9日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从任务理解到方案形成：电钻预测性维护专利讨论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087F8C"/>
                </a:solidFill>
                <a:latin typeface="Microsoft YaHei"/>
              </a:defRPr>
            </a:pPr>
            <a:r>
              <a:t>理解问题 → 阅读证据 → 反思原型 → 形成方案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97480"/>
            <a:ext cx="3529584" cy="19933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697480"/>
            <a:ext cx="54864" cy="19933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87121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研究认识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447288"/>
            <a:ext cx="310896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任务目标与边界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现有技术的能力与挑战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初步查新与文献综述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697480"/>
            <a:ext cx="3529584" cy="19933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2697480"/>
            <a:ext cx="54864" cy="1993392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87121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反思与创新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447288"/>
            <a:ext cx="310896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任务书待明确事项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Demo探索带来的认识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再次创新的候选方向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697480"/>
            <a:ext cx="3529584" cy="19933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2697480"/>
            <a:ext cx="54864" cy="19933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87121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实施设计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3447288"/>
            <a:ext cx="3108960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系统总体架构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数据采集硬件候选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算法与实验平台方案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已完成：资料比对与仿真原型｜待确认：核心机制、硬件资源和验证路径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01 对任务的理解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我的理解：预测性维护需要连接观测、判断与验证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2596896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167128"/>
            <a:ext cx="234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观测对象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743200"/>
            <a:ext cx="23408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轴承相关振动/电气/温度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31820" y="251460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965960"/>
            <a:ext cx="2596896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167128"/>
            <a:ext cx="234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解释变化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743200"/>
            <a:ext cx="23408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负载 / 转速 / 通道质量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4748" y="251460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965960"/>
            <a:ext cx="2596896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167128"/>
            <a:ext cx="234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形成判断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743200"/>
            <a:ext cx="23408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异常证据 / 趋势 / 有效性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37676" y="251460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1704" y="1965960"/>
            <a:ext cx="2596896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2167128"/>
            <a:ext cx="234086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验证维护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743200"/>
            <a:ext cx="2340863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检查 / 更换 / 同工况复测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94760"/>
            <a:ext cx="5394960" cy="14173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94760"/>
            <a:ext cx="54864" cy="14173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96849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第一版建议范围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544568"/>
            <a:ext cx="497433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一种电钻、一个目标部件，先做可靠识别与误报控制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794760"/>
            <a:ext cx="5394960" cy="14173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794760"/>
            <a:ext cx="54864" cy="141732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396849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寿命预测的前提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4544568"/>
            <a:ext cx="4974336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明确失效标准、有效运行时间与完整退化标签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我认为核心是“观测怎样可信地反映退化”，算法与平台为这个问题服务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02 进展梳理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目前进展：研究材料与软件原型已经形成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29584" cy="35204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3520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需求与技术阅读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3108960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阅读研发任务书与端到端路线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梳理研究对象、指标和流程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核对核心论文与专利特征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形成18项资料证据矩阵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91640"/>
            <a:ext cx="3529584" cy="35204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691640"/>
            <a:ext cx="54864" cy="3520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原型与实验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41448"/>
            <a:ext cx="3108960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Python网页原型可运行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模拟多工况与通道异常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模型与消融对照已生成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告警→维修→模拟复测闭环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691640"/>
            <a:ext cx="3529584" cy="35204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691640"/>
            <a:ext cx="54864" cy="352044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还需形成的证据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441448"/>
            <a:ext cx="3108960" cy="2633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真实采集和独立磨损标签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暂态/质量的准入控制机制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维修后基线验证与回退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数据库补查及申请文件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原型证明流程可实现；专利需要具体机制和可重复的技术效果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03 查新范围与结果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初步查新：已有技术覆盖了哪些原始设想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3529584" cy="29260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29260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范围与依据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3108960" cy="2039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上传19份PDF，去重18项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12项论文＋6项公开申请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核读核心方法和权利要求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输出来源与技术比对矩阵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1691640"/>
            <a:ext cx="3529584" cy="29260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691640"/>
            <a:ext cx="54864" cy="29260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已识别的重合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41448"/>
            <a:ext cx="3108960" cy="2039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Transformer-LSTM轴承寿命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电机多源信号与注意力融合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负载健康基线及动态报警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负载基线与摩擦残差分离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47304" y="1691640"/>
            <a:ext cx="3529584" cy="292608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47304" y="1691640"/>
            <a:ext cx="54864" cy="292608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6" y="1865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补查的重点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2441448"/>
            <a:ext cx="3108960" cy="2039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质量感知＋证据准入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暂态隔离＋机器故障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维修后基线适应与冻结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同族、引用及法律状态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64608"/>
            <a:ext cx="1092708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任务书两项指定公开号全文仍待核验；当前材料称为“初步查新”，不冒充完整检索证明。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查新结论：宽泛组合表述应收窄；尚不能据此证明最终方案可授权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04 论文研究脉络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文献综述：按技术问题组织阅读结果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文献依据：18项证据矩阵；核心论文方法与摘要定位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7652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4" y="178765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代表工作与方法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78765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对本项目的启发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75895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58568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多源信息怎样融合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2258568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Wang 2020：振动图像＋改进CNN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古玉锋2026：PCA＋残差＋CBAM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3" y="2258568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融合与注意力已有基础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需要验证质量异常与失效行为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16936"/>
            <a:ext cx="1115568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01752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怎样适应变化工况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4" y="30175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Guo 2020：转速/负载＋多任务CNN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Li 2021：图网络＋域对抗/MMD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3" y="30175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不能说已有方法完全忽略工况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独立负载测量和场景验证重要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75888"/>
            <a:ext cx="11155680" cy="758952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776472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怎样表达退化与寿命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8104" y="3776472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张帆2024：Transformer-LSTM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周文军2024：刀具磨损GA-LSTM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3776472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网络组合及磨损预测已有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真实退化标签决定能否做RUL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34840"/>
            <a:ext cx="1115568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535424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怎样降低部署开销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18104" y="4535424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PEMFC：CNN-GRU与参数优化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光伏MMT：压缩与稀疏专家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72983" y="4535424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轻量化须实测资源与效果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跨领域结果不等于电钻结果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综述得到的判断：已有研究提供方法工具；本项目要验证特定场景中的技术问题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05 专利创新边界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专利比较：工况基线和持续报警已有很近的方案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出处：CN121385628A权利要求1、8–10；CN121432174A权利要求1、2、5、9；CN122258007A权利要求1–9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765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对比专利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9544" y="1787652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公开的关键技术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787652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需要收窄的表述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9144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58568"/>
            <a:ext cx="22860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CN121385628A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电机多传感器诊断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2258568"/>
            <a:ext cx="438912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时延校正、负载健康基线动态阈值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持续确认、分级报警、信噪比调窗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3" y="2258568"/>
            <a:ext cx="36576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工况校正、质量自适应和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持续报警本身不宜主张独有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072384"/>
            <a:ext cx="111556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72968"/>
            <a:ext cx="22860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CN121432174A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绕线设备故障检测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9544" y="3172968"/>
            <a:ext cx="438912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电气/运动信号融合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工艺负载基线与摩擦残差分离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2983" y="3172968"/>
            <a:ext cx="36576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“减去基线得到退化信息”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需要说明更具体的技术区别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86784"/>
            <a:ext cx="11155680" cy="9144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4087368"/>
            <a:ext cx="22860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CN122258007A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水泵故障诊断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4087368"/>
            <a:ext cx="438912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振动/声音/电流＋转速/流量/压力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深度网络分类与告警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4087368"/>
            <a:ext cx="3657600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多传感器＋工况＋深度学习</a:t>
            </a:r>
          </a:p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不足以单独证明创造性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184648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另有工具库房管理与电池维护提醒；和轴承对象不同，但通用维护流程并非全新。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比较必要特征及组合关系；具体差别、新颖性、创造性和实施风险应分别判断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06 值得验证的技术挑战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我找到的痛点：把“数据异常”与“设备退化”分清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16916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工况变化与磨损相互混杂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497433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同样的振动升高，可能是正常重载或轴承异常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需要工况参考、暂态处理和独立负载证据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4864" cy="16916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传感器问题与故障冲击相互混杂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41448"/>
            <a:ext cx="497433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松动、饱和、丢包会影响预测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不能按信号振幅直接认定通道无效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1188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54864" cy="169164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78561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维修恢复与基线漂移相互混杂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61688"/>
            <a:ext cx="497433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换部件或重新安装改变正常特征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未经确认的数据可能把残余故障学成正常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1188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11880"/>
            <a:ext cx="54864" cy="169164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78561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短时分类与寿命证据相互脱节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361688"/>
            <a:ext cx="497433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可分类的缺陷样本不等于完整寿命轨迹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RUL需要终点、时间尺度和使用条件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候选问题来自具体场景；需补近邻检索和真实数据，才能判断剩余创新空间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07 对任务书的反思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任务书的不足：需要明确研究条件和指标口径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依据：用户原始《发明专利研发任务书》研究目标、核心创新点、预期成果及时间表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7652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任务书表述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178765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目前待明确的问题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0104" y="178765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建议修改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55778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58568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三种工具＋电机/齿轮/轴承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258568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对象和故障类型多，采集标注资源未知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0104" y="2258568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先选一种电钻、一类轴承问题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15768"/>
            <a:ext cx="111556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816352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Transformer-LSTM＋算力降70%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5304" y="2816352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已有近邻；缺基准模型、硬件与测法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2816352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机制优先；同精度比较延迟/RAM/能耗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273552"/>
            <a:ext cx="11155680" cy="55778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374136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提前3–7天；RUL误差≤15%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75304" y="3374136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缺失效终点、寿命轨迹及使用强度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0104" y="3374136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先验证异常；RUL用小时和误差口径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831336"/>
            <a:ext cx="11155680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393192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5000组；准确率≥92%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3931920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窗口相关性、设备划分与类别未明确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3931920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按设备/运行段分组，报告召回与误报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389120"/>
            <a:ext cx="11155680" cy="557784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489704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2026.9–12；16周五阶段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75304" y="4489704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现阶段硬件与真实数据尚未落实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4" y="4489704"/>
            <a:ext cx="3840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按资源与交付里程碑重新排期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建议把预设“创新结论”与效果数字改为待检索、待验证的研究目标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08 原型带来的体会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Demo探索后的认识：功能跑通与技术证明不同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54864" cy="16916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11095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收获1：理解端到端数据链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87168"/>
            <a:ext cx="497433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从输入、质量和基线到模型与维护状态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能定位哪里依赖假设、哪里需要真实证据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73736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4864" cy="16916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911095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收获2：认识到数据的重要性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87168"/>
            <a:ext cx="497433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6000个模拟窗口仍受生成规则约束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小样本要看独立设备与轨迹，不能只看窗口数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4864" cy="169164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3133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收获3：网络复杂度要有必要性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07408"/>
            <a:ext cx="497433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纯LSTM与组合准确率相同，RUL误差更低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可以先用简单模型验证候选机制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57600"/>
            <a:ext cx="5394960" cy="1691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57600"/>
            <a:ext cx="54864" cy="169164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83133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收获4：闭环需要技术规则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07408"/>
            <a:ext cx="497433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已有维修复测工作流；基线仍固定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“维修完成”不能自动成为健康学习许可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原型价值：暴露假设和缺口，帮助确定下一轮实验，而非直接证明专利创新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09 仿真证据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已有实验给出的线索：工况处理比网络名称更关键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数据：artifacts/experiment_results.json；代码核对：model.py中的quality_gate开关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526376"/>
                </a:solidFill>
                <a:latin typeface="Microsoft YaHei"/>
              </a:defRPr>
            </a:pPr>
            <a:r>
              <a:t>仿真：30台设备 / 6000窗口；设备划分21/6/3；单种子、测试459条相关序列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3263E"/>
                </a:solidFill>
                <a:latin typeface="Microsoft YaHei"/>
              </a:defRPr>
            </a:pPr>
            <a:r>
              <a:t>四阶段分类准确率（%）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1993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组合模型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9192" y="2738628"/>
            <a:ext cx="3429000" cy="21945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79192" y="2738628"/>
            <a:ext cx="3279495" cy="219456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2697480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087F8C"/>
                </a:solidFill>
                <a:latin typeface="Microsoft YaHei"/>
              </a:defRPr>
            </a:pPr>
            <a:r>
              <a:t>95.64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36976"/>
            <a:ext cx="1993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纯LSTM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3278124"/>
            <a:ext cx="3429000" cy="21945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9192" y="3278124"/>
            <a:ext cx="3279495" cy="219456"/>
          </a:xfrm>
          <a:prstGeom prst="rect">
            <a:avLst/>
          </a:prstGeom>
          <a:solidFill>
            <a:srgbClr val="4A7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323697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4A708A"/>
                </a:solidFill>
                <a:latin typeface="Microsoft YaHei"/>
              </a:defRPr>
            </a:pPr>
            <a:r>
              <a:t>95.64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76472"/>
            <a:ext cx="1993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去质量幅值约束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9192" y="3817620"/>
            <a:ext cx="3429000" cy="21945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79192" y="3817620"/>
            <a:ext cx="3242119" cy="219456"/>
          </a:xfrm>
          <a:prstGeom prst="rect">
            <a:avLst/>
          </a:prstGeom>
          <a:solidFill>
            <a:srgbClr val="70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377647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0949E"/>
                </a:solidFill>
                <a:latin typeface="Microsoft YaHei"/>
              </a:defRPr>
            </a:pPr>
            <a:r>
              <a:t>94.55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315968"/>
            <a:ext cx="1993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无工况校正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9192" y="4357116"/>
            <a:ext cx="3429000" cy="21945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79192" y="4357116"/>
            <a:ext cx="2823781" cy="219456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31596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B67A17"/>
                </a:solidFill>
                <a:latin typeface="Microsoft YaHei"/>
              </a:defRPr>
            </a:pPr>
            <a:r>
              <a:t>82.35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2057400"/>
            <a:ext cx="4206240" cy="21305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52360" y="2057400"/>
            <a:ext cx="54864" cy="213055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62672" y="2231136"/>
            <a:ext cx="37856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为什么不固定网络？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62672" y="2807208"/>
            <a:ext cx="3785615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RUL MAE：组合0.1633小时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纯LSTM：0.1546小时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参数：17,789 vs 9,245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组合结构的优势尚未成立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20640"/>
            <a:ext cx="109728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缺少：真实采集、多个随机种子、长期健康误报实验，以及完整基线更新机制。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下一轮应固定预测器，对准入机制做消融；已有仿真不替代现场验证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10 候选主线与延伸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再次创新的想法：先收窄到联合数据准入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26060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26060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候选主线A：联合证据准入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4974336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工况覆盖/稳定性＋采集质量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控制历史窗口与退化证据累计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未知/无效明确降级，恢复有规则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验证：同召回下误报减少、延迟可接受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394960" cy="26060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4864" cy="260604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候选延伸B：维修后参考重建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41448"/>
            <a:ext cx="4974336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新运行段＋可比工况＋独立健康证据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控制候选健康基线生成与验证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验证成功再切换，失败冻结/回退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验证：残余故障不被学习成健康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709160"/>
            <a:ext cx="1083564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13263E"/>
                </a:solidFill>
                <a:latin typeface="Microsoft YaHei"/>
              </a:defRPr>
            </a:pPr>
            <a:r>
              <a:t>研究假设：把“数据能用于判断”与“数据能用于学习健康”分开控制，可减少两类污染。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需要写出输入、公式、状态转移与失效行为；完整组合仍需查新和效果验证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11 初步技术方案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整体架构：先在电脑上验证，再考虑边缘部署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电钻与台架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负载 / 转速 / 部件真值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1234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5262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13278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同步采集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13278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振动 / 电流 / 温度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3576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7604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5620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数据处理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5620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质量 / 滤波 / 窗口特征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5919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49947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7963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诊断机制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7963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条件参考 / 联合准入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8261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2289" y="1874519"/>
            <a:ext cx="2026310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0305" y="2075688"/>
            <a:ext cx="177027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结果与验证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0305" y="2651760"/>
            <a:ext cx="177027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趋势 / 告警 / 复测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730752"/>
            <a:ext cx="5394960" cy="15361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730752"/>
            <a:ext cx="54864" cy="153619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3904488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第一阶段运行位置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4480560"/>
            <a:ext cx="4974336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采集设备记录原始波形；电脑CPU完成分析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记录设备、运行段、质量、标签及版本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730752"/>
            <a:ext cx="5394960" cy="153619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730752"/>
            <a:ext cx="54864" cy="1536192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3904488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后续部署位置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4480560"/>
            <a:ext cx="4974336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效果成立后评估边缘网关或MCU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云端/APP作为管理扩展，优先级后置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真实信号→短窗特征→诊断；另建分钟级历史用于慢速退化趋势，避免时间尺度混用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12 初步硬件选型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采集硬件：给出候选配置，先落实实验室资源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7652"/>
            <a:ext cx="1280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项目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3704" y="1787652"/>
            <a:ext cx="4389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优先路线 / 自建候选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144" y="1787652"/>
            <a:ext cx="4663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选型与验收依据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49377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58568"/>
            <a:ext cx="128016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测试对象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3704" y="2258568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一种低压直流电钻、非冲击模式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7144" y="2258568"/>
            <a:ext cx="46634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记录驱动类型、减速比和轴承位置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51760"/>
            <a:ext cx="11155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752344"/>
            <a:ext cx="128016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振动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03704" y="2752344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IEPE加速度计 / ADXL1002单轴模拟方案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2752344"/>
            <a:ext cx="46634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刚性安装；带宽、量程和共振须匹配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45536"/>
            <a:ext cx="11155680" cy="49377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246120"/>
            <a:ext cx="128016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电流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03704" y="3246120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隔离霍尔传感器；ACS758系列可候选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3246120"/>
            <a:ext cx="46634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先测母线电流；量程覆盖启动/堵转边界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39312"/>
            <a:ext cx="11155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3739896"/>
            <a:ext cx="128016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温度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3704" y="3739896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K型热电偶＋采集模块＋环境温度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7144" y="3739896"/>
            <a:ext cx="46634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外壳/轴承座表面温度；不能冒称内圈温度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33088"/>
            <a:ext cx="11155680" cy="493776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233672"/>
            <a:ext cx="128016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转速与负载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3704" y="4233672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光电转速＋动态扭矩＋可调制动器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67144" y="4233672"/>
            <a:ext cx="46634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尽量独立于电流，记录轴端与内部转速关系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26864"/>
            <a:ext cx="11155680" cy="4937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4727448"/>
            <a:ext cx="128016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高频采集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03704" y="4727448"/>
            <a:ext cx="438912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同步DAQ / AD7606B＋STM32H743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67144" y="4727448"/>
            <a:ext cx="4663440" cy="374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外置ADC与共时钟；校验采样、缓冲和丢包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303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所有型号为候选，需核对手册、接口与库存；第一阶段由电脑推理，不承诺MCU直接运行。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高频初选25.6 kS/s/通道；温度1–10 Hz；采样与滤波参数以试采和目标频带调整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13 搭建方案设计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实验平台：机械负载、观测与独立检查共同组成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07568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电钻固定夹具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5176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非冲击 / 记录驱动结构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2796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3" y="1874519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207568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联轴器＋扭矩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39" y="265176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对中 / 额定转速扭矩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699" y="2423160"/>
            <a:ext cx="2103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087F8C"/>
                </a:solidFill>
                <a:latin typeface="Microsoft YaHe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0727" y="1874519"/>
            <a:ext cx="3547871" cy="13716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075688"/>
            <a:ext cx="3291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087F8C"/>
                </a:solidFill>
                <a:latin typeface="Microsoft YaHei"/>
              </a:defRPr>
            </a:pPr>
            <a:r>
              <a:t>可控负载装置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651760"/>
            <a:ext cx="329183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轻载 / 中载 / 重载切换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03320"/>
            <a:ext cx="5394960" cy="1600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703320"/>
            <a:ext cx="54864" cy="1600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87705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观测布置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53128"/>
            <a:ext cx="497433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近轴承刚性振动测点；低压母线电流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表面温度＋环境温度；转速与负载记录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703320"/>
            <a:ext cx="5394960" cy="16002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703320"/>
            <a:ext cx="54864" cy="1600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87705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检查与记录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53128"/>
            <a:ext cx="4974336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部件编号、安装状态、拆检/测量证据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设备ID、工况、校准与运行段统一关联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可拆检电钻优先；不可实现时先做轴承传动台架，随后验证向电钻迁移的有效性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14 初步算法选型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算法路线：从健康参考与简单模型逐步增加机制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7652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1787652"/>
            <a:ext cx="52120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技术选择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1787652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推进条件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6126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58568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原始信号→短窗特征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258568"/>
            <a:ext cx="5212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抗混叠/因果处理；RMS、峭度、频带能量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转速变化时考虑阶次，温度取趋势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2258568"/>
            <a:ext cx="3017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初选2秒窗、1秒步长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与现有一分钟模拟输入不同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70632"/>
            <a:ext cx="111556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871216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健康参考＋质量评估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6664" y="2871216"/>
            <a:ext cx="5212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健康条件回归/稳健参考；缺失、饱和、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平线、同步偏差等质量证据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2871216"/>
            <a:ext cx="3017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工况覆盖清楚；不抑制真实冲击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83280"/>
            <a:ext cx="11155680" cy="6126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483864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基线预测器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6664" y="3483864"/>
            <a:ext cx="5212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规则阈值、简单特征分类器、小型LSTM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质量门控与Transformer-LSTM作对照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3483864"/>
            <a:ext cx="3017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按设备划分，先证实实际诊断能力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95928"/>
            <a:ext cx="11155680" cy="6126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096512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联合准入＋更新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6664" y="4096512"/>
            <a:ext cx="5212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控制历史/证据窗口；维修后参考验证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只在机制需要时增加网络或蒸馏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13064" y="4096512"/>
            <a:ext cx="3017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同召回下误报、延迟、覆盖率可接受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608576"/>
            <a:ext cx="11155680" cy="61264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709160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寿命与边缘部署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26664" y="4709160"/>
            <a:ext cx="521208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分钟级趋势；有寿命标签再训练RUL</a:t>
            </a:r>
          </a:p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硬件确定后测端到端延迟/RAM/能耗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3064" y="4709160"/>
            <a:ext cx="30175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526376"/>
                </a:solidFill>
                <a:latin typeface="Microsoft YaHei"/>
              </a:defRPr>
            </a:pPr>
            <a:r>
              <a:t>失效定义、持续轨迹与目标硬件明确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首选可解释的简单基线验证机制；网络结构和轻量化手段由数据与目标硬件决定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15 最小实验方案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数据与验证：需要同时覆盖故障和观测异常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1700784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170078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工况与健康状态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4974336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拟3档转速×3档负载，含启停与切换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健康/确认缺陷，记录独立检查与安装证据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394960" cy="1700784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4864" cy="170078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观测与维护场景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41448"/>
            <a:ext cx="4974336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正常、缺失、噪声、同步偏差、传感器问题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有效维修、残余故障、换传感器与负载改变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600"/>
            <a:ext cx="5394960" cy="1700784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657600"/>
            <a:ext cx="54864" cy="170078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83133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对照与消融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07408"/>
            <a:ext cx="4974336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规则阈值→条件参考→质量融合→联合准入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统一预测器与阈值选择，另做维修更新对照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57600"/>
            <a:ext cx="5394960" cy="1700784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57600"/>
            <a:ext cx="54864" cy="170078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83133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主要验证指标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4407408"/>
            <a:ext cx="4974336" cy="8138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同召回下误报事件数、检出延迟与覆盖率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残余故障基线污染、故障灵敏度与回退效果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先按设备/完整运行段分组再切窗；四级磨损标签与RUL真值都需要独立定义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16 下一阶段计划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建议推进顺序：每一步都有明确交付与判断条件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7652"/>
            <a:ext cx="21488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里程碑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2384" y="1787652"/>
            <a:ext cx="4343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交付材料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0104" y="1787652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进入下一步的条件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74980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58568"/>
            <a:ext cx="21488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A：范围与资源确认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2258568"/>
            <a:ext cx="43434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补充近邻检索、主线说明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设备/传感器/负载装置清单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0104" y="2258568"/>
            <a:ext cx="384048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对象可采、部件可检查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关键数据来源明确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07792"/>
            <a:ext cx="11155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008376"/>
            <a:ext cx="21488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B：健康工况试采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008376"/>
            <a:ext cx="43434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校准与同步记录、原始数据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工况覆盖、质量标志及标签规范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0104" y="3008376"/>
            <a:ext cx="384048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特征稳定、工况可分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设备与运行段可追溯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57600"/>
            <a:ext cx="11155680" cy="749808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758184"/>
            <a:ext cx="21488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C：机制验证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384" y="3758184"/>
            <a:ext cx="43434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准入规则、同模型消融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误报/漏报/延迟与失败样例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0104" y="3758184"/>
            <a:ext cx="384048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技术效果重复成立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低质量不会掩盖真故障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407408"/>
            <a:ext cx="111556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507992"/>
            <a:ext cx="214884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D：交底与申请准备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384" y="4507992"/>
            <a:ext cx="434340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完整实施例、图、必要技术特征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对比材料与待核验问题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4507992"/>
            <a:ext cx="384048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方案可实施、证据真实</a:t>
            </a:r>
          </a:p>
          <a:p>
            <a:pPr>
              <a:spcAft>
                <a:spcPts val="500"/>
              </a:spcAft>
              <a:defRPr sz="1400" b="0">
                <a:solidFill>
                  <a:srgbClr val="526376"/>
                </a:solidFill>
                <a:latin typeface="Microsoft YaHei"/>
              </a:defRPr>
            </a:pPr>
            <a:r>
              <a:t>老师/代理师据检索收敛范围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任务书的12月目标需结合实际资源重排；平台扩展与MCU部署按验证结果安排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17 讨论收束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明天希望和老师共同确定的事项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73352"/>
            <a:ext cx="11155680" cy="49377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769364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C"/>
                </a:solidFill>
                <a:latin typeface="Microsoft YaHei"/>
              </a:defRPr>
            </a:pPr>
            <a:r>
              <a:t>技术问题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769364"/>
            <a:ext cx="8759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优先解决变工况误报，还是必须先完成真实寿命预测？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67712"/>
            <a:ext cx="11155680" cy="49377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363724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C"/>
                </a:solidFill>
                <a:latin typeface="Microsoft YaHei"/>
              </a:defRPr>
            </a:pPr>
            <a:r>
              <a:t>创新范围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63724"/>
            <a:ext cx="8759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联合证据准入为主，维修后基线更新作为延伸是否合理？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862072"/>
            <a:ext cx="11155680" cy="49377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2958084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C"/>
                </a:solidFill>
                <a:latin typeface="Microsoft YaHei"/>
              </a:defRPr>
            </a:pPr>
            <a:r>
              <a:t>实验对象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958084"/>
            <a:ext cx="8759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电钻能否拆检并获得标签？是否允许先做可换轴承台架？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56432"/>
            <a:ext cx="11155680" cy="49377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3552444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C"/>
                </a:solidFill>
                <a:latin typeface="Microsoft YaHei"/>
              </a:defRPr>
            </a:pPr>
            <a:r>
              <a:t>硬件资源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552444"/>
            <a:ext cx="8759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实验室有哪些传感器、同步DAQ、扭矩和负载装置可用？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50791"/>
            <a:ext cx="11155680" cy="49377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4146804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C"/>
                </a:solidFill>
                <a:latin typeface="Microsoft YaHei"/>
              </a:defRPr>
            </a:pPr>
            <a:r>
              <a:t>验证标准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146804"/>
            <a:ext cx="8759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最小对照实验和召回、误报、延迟的验收口径是什么？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45152"/>
            <a:ext cx="11155680" cy="493776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741164"/>
            <a:ext cx="1901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087F8C"/>
                </a:solidFill>
                <a:latin typeface="Microsoft YaHei"/>
              </a:defRPr>
            </a:pPr>
            <a:r>
              <a:t>阶段成果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741164"/>
            <a:ext cx="8759952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376"/>
                </a:solidFill>
                <a:latin typeface="Microsoft YaHei"/>
              </a:defRPr>
            </a:pPr>
            <a:r>
              <a:t>下一次先交方案与试采数据，还是先形成交底书讨论稿？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本次目标：确定一个技术问题、一条候选主线、一套可获得数据的最小实验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备用 · 老师追问来源时展开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备查A：核心资料与阅读定位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1155680" cy="466344"/>
          </a:xfrm>
          <a:prstGeom prst="rect">
            <a:avLst/>
          </a:prstGeom>
          <a:solidFill>
            <a:srgbClr val="13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" y="1787652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资料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78224" y="1787652"/>
            <a:ext cx="4892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技术定位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44584" y="1787652"/>
            <a:ext cx="2286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阅读位置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57984"/>
            <a:ext cx="111556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5856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张帆等，2024，轴承寿命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2258568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Transformer-LSTM；DOI 10.13465/j.cnki.jvs.2024.06.034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225856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PDF第1–4页，图3/5/6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60904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76148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古玉锋等，2026，电机诊断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2761488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PCA/残差/CBAM；DOI末尾2026.01.017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276148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PDF第1、3–4页，2.1–2.3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63824"/>
            <a:ext cx="111556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26440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Guo等，IEEE TIE 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78224" y="3264408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负载/转速、虚拟采样、多任务CNN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4584" y="326440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PDF第1、3–5页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666744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376732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Li等，IEEE TIM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8224" y="3767328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图结构、域对抗、MMD变工况适应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376732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PDF第1、3–4页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169664"/>
            <a:ext cx="111556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427024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Wang等，IEEE TIM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78224" y="4270248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多方向振动RGB图像＋改进CNN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42702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PDF第1、3–4页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672584"/>
            <a:ext cx="11155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4773168"/>
            <a:ext cx="31546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三项重点申请公开文本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8224" y="4773168"/>
            <a:ext cx="48920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CN121385628A / CN121432174A / CN122258007A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44584" y="477316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526376"/>
                </a:solidFill>
                <a:latin typeface="Microsoft YaHei"/>
              </a:defRPr>
            </a:pPr>
            <a:r>
              <a:t>权利要求与说明书，见矩阵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完整18项清单、原文文件名和证据定位见初步查新综述与证据矩阵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087F8C"/>
                </a:solidFill>
                <a:latin typeface="Microsoft YaHei"/>
              </a:defRPr>
            </a:pPr>
            <a:r>
              <a:t>备用 · 算法与数据细节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22376"/>
            <a:ext cx="1110996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13263E"/>
                </a:solidFill>
                <a:latin typeface="Microsoft YaHei"/>
              </a:defRPr>
            </a:pPr>
            <a:r>
              <a:t>备查B：采集与现有Demo的时间尺度不同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82512"/>
            <a:ext cx="11155680" cy="12801"/>
          </a:xfrm>
          <a:prstGeom prst="rect">
            <a:avLst/>
          </a:prstGeom>
          <a:solidFill>
            <a:srgbClr val="DCE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0515600" cy="1920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526376"/>
                </a:solidFill>
                <a:latin typeface="Microsoft YaHei"/>
              </a:defRPr>
            </a:pPr>
            <a:r>
              <a:t>项目代码、仿真实验报告与附件技术比对｜2026-10-08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922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376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394960" cy="28803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" cy="28803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087F8C"/>
                </a:solidFill>
                <a:latin typeface="Microsoft YaHei"/>
              </a:defRPr>
            </a:pPr>
            <a:r>
              <a:t>现有Demo（已实现）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41448"/>
            <a:ext cx="4974336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每分钟一组模拟特征，共6维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每类传感器两个特征＋质量分数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16个窗口输入小型时序模型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基线固定，质量主要由仿真给定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维修工作流不自动更新健康基线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394960" cy="28803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4864" cy="2880360"/>
          </a:xfrm>
          <a:prstGeom prst="rect">
            <a:avLst/>
          </a:prstGeom>
          <a:solidFill>
            <a:srgbClr val="B67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865376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B67A17"/>
                </a:solidFill>
                <a:latin typeface="Microsoft YaHei"/>
              </a:defRPr>
            </a:pPr>
            <a:r>
              <a:t>拟采集方案（待实现）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41448"/>
            <a:ext cx="4974336" cy="19933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振动/电流：25.6 kS/s/通道初选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温度：1–10 Hz，按时间边界对齐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短窗：2秒/1秒步长，先做诊断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分钟级聚合另用于慢速退化趋势</a:t>
            </a:r>
          </a:p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以真实数据重新拟合和验证模型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526376"/>
                </a:solidFill>
                <a:latin typeface="Microsoft YaHei"/>
              </a:defRPr>
            </a:pPr>
            <a:r>
              <a:t>新采集参数、特征和时间尺度改变后，需要重新训练与验证，不能直接沿用模拟模型。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614416"/>
            <a:ext cx="11155680" cy="539496"/>
          </a:xfrm>
          <a:prstGeom prst="roundRect">
            <a:avLst>
              <a:gd name="adj" fmla="val 12000"/>
            </a:avLst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5724144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采样率、带宽和窗长是初选参数；根据转速、目标频带和试采结果调整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电钻预测性维护：研究理解、查新与技术方案</dc:title>
  <dc:subject>2026年10月9日导师讨论，18页主线＋2页备查</dc:subject>
  <dc:creator>项目研究讨论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