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这页是拟定的真实多源数据方案，用于导师讨论；具体工具、传感器及采集参数尚待确定。</a:t>
            </a:r>
          </a:p>
          <a:p>
            <a:r>
              <a:t>清洗不是把所有尖峰都删掉。先检查缺失、饱和、时间戳、采样率和异常段，保留数据质量与缺失标记，避免将真实故障冲击当成噪声。</a:t>
            </a:r>
          </a:p>
          <a:p>
            <a:r>
              <a:t>振动、电流优先共时钟采集；不同采样率按采样时间组成同一分析窗，温度可低速采样。电脑收到数据的时间不能代替采样时间。保留转速、负载、启停及工况切换标记，供后续工况处理使用。</a:t>
            </a:r>
          </a:p>
          <a:p>
            <a:r>
              <a:t>振动按任务书路线进行小波阈值降噪与FFT分析。有效值反映整体振动强度，峭度描述冲击特征，频域能量反映不同频段的变化。阈值需验证是否保留故障特征。</a:t>
            </a:r>
          </a:p>
          <a:p>
            <a:r>
              <a:t>电流须依据电机与驱动方式选择滤波和频谱分析。电池工具可分析直流均值、纹波及PWM相关成分；交流供电可分析相关谐波。不能将固定交流谐波方案直接用于所有工具。</a:t>
            </a:r>
          </a:p>
          <a:p>
            <a:r>
              <a:t>温度先检查无效记录，再适度平滑趋势。保留绝对温度，计算外壳相对环境温升及升温速率，不将每条曲线都去均值。外壳温度不等同轴承内部温度。</a:t>
            </a:r>
          </a:p>
          <a:p>
            <a:r>
              <a:t>标签来自独立部件检查、试验设计或数据集官方说明，不由模型预测生成真实标签。故障部位与损伤程度是两种标签：有可核验的程度依据时才标注程度。</a:t>
            </a:r>
          </a:p>
          <a:p>
            <a:r>
              <a:t>先按独立设备或完整原始记录分组划分训练、验证、测试集，再切窗口。7:2:1是目标比例，具体比例取决于记录数量和分组；有重叠或相邻关系的同一记录窗口不能跨集合。跨记录并不自动证明跨物理设备泛化。</a:t>
            </a:r>
          </a:p>
          <a:p>
            <a:r>
              <a:t>标准化就是让输入具有可比尺度。均值、标准差等学习参数只在训练集上拟合，验证与测试复用参数；不能让测试信息进入训练。避免每个窗口都缩放至相同振幅而丢失损伤相关幅值。</a:t>
            </a:r>
          </a:p>
          <a:p>
            <a:r>
              <a:t>目前CWRU预验证采用驱动端振动，正常记录按既定来源采样率抗混叠重采样至12kHz，窗口1024点、步长512点；每窗去均值和三级Haar软阈值降噪，使用训练集全局均值和标准差。时域、FFT及包络特征表用于解释，当前公开数据分类器直接输入降噪振动波形，并未使用该特征表或真实电流、温度。</a:t>
            </a:r>
          </a:p>
          <a:p>
            <a:r>
              <a:t>CWRU四类为正常、内圈、滚动体、外圈故障部位，不等同自然磨损严重度，也没有本项目已验证的剩余寿命标签。自有电动工具真实多源数据尚未采集，公开轴承数据用于算法预验证。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74904"/>
            <a:ext cx="10863072" cy="68580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5334A"/>
                </a:solidFill>
                <a:latin typeface="Noto Sans CJK SC"/>
                <a:ea typeface="Noto Sans CJK SC"/>
              </a:rPr>
              <a:t>拟定数据预处理方案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98448"/>
            <a:ext cx="10725912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35024"/>
            <a:ext cx="2103120" cy="65836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56894"/>
                </a:solidFill>
                <a:latin typeface="Noto Sans CJK SC"/>
                <a:ea typeface="Noto Sans CJK SC"/>
              </a:rPr>
              <a:t>清洗与对齐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44368" y="1335024"/>
            <a:ext cx="8293608" cy="65836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E50"/>
                </a:solidFill>
                <a:latin typeface="Noto Sans CJK SC"/>
                <a:ea typeface="Noto Sans CJK SC"/>
              </a:rPr>
              <a:t>标记缺失／异常，按采样时间组成同一分析窗口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68296"/>
            <a:ext cx="10725912" cy="512064"/>
          </a:xfrm>
          <a:prstGeom prst="rect">
            <a:avLst/>
          </a:prstGeom>
          <a:solidFill>
            <a:srgbClr val="256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382012"/>
            <a:ext cx="1289304" cy="4846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</a:rPr>
              <a:t>采集信号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0008" y="2382012"/>
            <a:ext cx="3739896" cy="4846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</a:rPr>
              <a:t>处理方式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382012"/>
            <a:ext cx="5038344" cy="4846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</a:rPr>
              <a:t>提取的信息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80360"/>
            <a:ext cx="10725912" cy="658368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912364"/>
            <a:ext cx="1289304" cy="59436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5334A"/>
                </a:solidFill>
                <a:latin typeface="Noto Sans CJK SC"/>
                <a:ea typeface="Noto Sans CJK SC"/>
              </a:rPr>
              <a:t>振动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8" y="2912364"/>
            <a:ext cx="3739896" cy="59436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E50"/>
                </a:solidFill>
                <a:latin typeface="Noto Sans CJK SC"/>
                <a:ea typeface="Noto Sans CJK SC"/>
              </a:rPr>
              <a:t>小波降噪＋FFT 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912364"/>
            <a:ext cx="5038344" cy="59436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E50"/>
                </a:solidFill>
                <a:latin typeface="Noto Sans CJK SC"/>
                <a:ea typeface="Noto Sans CJK SC"/>
              </a:rPr>
              <a:t>有效值、峭度、频域能量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538728"/>
            <a:ext cx="10725912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570732"/>
            <a:ext cx="1289304" cy="59436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5334A"/>
                </a:solidFill>
                <a:latin typeface="Noto Sans CJK SC"/>
                <a:ea typeface="Noto Sans CJK SC"/>
              </a:rPr>
              <a:t>电流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0008" y="3570732"/>
            <a:ext cx="3739896" cy="59436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E50"/>
                </a:solidFill>
                <a:latin typeface="Noto Sans CJK SC"/>
                <a:ea typeface="Noto Sans CJK SC"/>
              </a:rPr>
              <a:t>按驱动方式降噪／分析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570732"/>
            <a:ext cx="5038344" cy="59436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E50"/>
                </a:solidFill>
                <a:latin typeface="Noto Sans CJK SC"/>
                <a:ea typeface="Noto Sans CJK SC"/>
              </a:rPr>
              <a:t>有效值、纹波／谐波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197096"/>
            <a:ext cx="10725912" cy="658368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229100"/>
            <a:ext cx="1289304" cy="59436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5334A"/>
                </a:solidFill>
                <a:latin typeface="Noto Sans CJK SC"/>
                <a:ea typeface="Noto Sans CJK SC"/>
              </a:rPr>
              <a:t>温度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0008" y="4229100"/>
            <a:ext cx="3739896" cy="59436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E50"/>
                </a:solidFill>
                <a:latin typeface="Noto Sans CJK SC"/>
                <a:ea typeface="Noto Sans CJK SC"/>
              </a:rPr>
              <a:t>异常检查＋趋势平滑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229100"/>
            <a:ext cx="5038344" cy="59436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E50"/>
                </a:solidFill>
                <a:latin typeface="Noto Sans CJK SC"/>
                <a:ea typeface="Noto Sans CJK SC"/>
              </a:rPr>
              <a:t>相对环境温升、升温速率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422392"/>
            <a:ext cx="3291840" cy="896112"/>
          </a:xfrm>
          <a:prstGeom prst="roundRect">
            <a:avLst/>
          </a:prstGeom>
          <a:solidFill>
            <a:srgbClr val="E5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5477256"/>
            <a:ext cx="3145536" cy="786384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7E84"/>
                </a:solidFill>
                <a:latin typeface="Noto Sans CJK SC"/>
                <a:ea typeface="Noto Sans CJK SC"/>
              </a:rPr>
              <a:t>独立检查确定标签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7E84"/>
                </a:solidFill>
                <a:latin typeface="Noto Sans CJK SC"/>
                <a:ea typeface="Noto Sans CJK SC"/>
              </a:rPr>
              <a:t>标注故障类别／程度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114800" y="5733288"/>
            <a:ext cx="246888" cy="246888"/>
          </a:xfrm>
          <a:prstGeom prst="rightArrow">
            <a:avLst/>
          </a:prstGeom>
          <a:solidFill>
            <a:srgbClr val="256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53128" y="5422392"/>
            <a:ext cx="3291840" cy="896112"/>
          </a:xfrm>
          <a:prstGeom prst="roundRect">
            <a:avLst/>
          </a:prstGeom>
          <a:solidFill>
            <a:srgbClr val="E5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5477256"/>
            <a:ext cx="3145536" cy="786384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7E84"/>
                </a:solidFill>
                <a:latin typeface="Noto Sans CJK SC"/>
                <a:ea typeface="Noto Sans CJK SC"/>
              </a:rPr>
              <a:t>按设备／记录划分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7E84"/>
                </a:solidFill>
                <a:latin typeface="Noto Sans CJK SC"/>
                <a:ea typeface="Noto Sans CJK SC"/>
              </a:rPr>
              <a:t>目标比例 7∶2∶1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836408" y="5733288"/>
            <a:ext cx="246888" cy="246888"/>
          </a:xfrm>
          <a:prstGeom prst="rightArrow">
            <a:avLst/>
          </a:prstGeom>
          <a:solidFill>
            <a:srgbClr val="256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74736" y="5422392"/>
            <a:ext cx="3282696" cy="896112"/>
          </a:xfrm>
          <a:prstGeom prst="roundRect">
            <a:avLst/>
          </a:prstGeom>
          <a:solidFill>
            <a:srgbClr val="E5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5477256"/>
            <a:ext cx="3136391" cy="786384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7E84"/>
                </a:solidFill>
                <a:latin typeface="Noto Sans CJK SC"/>
                <a:ea typeface="Noto Sans CJK SC"/>
              </a:rPr>
              <a:t>训练集拟合标准化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7E84"/>
                </a:solidFill>
                <a:latin typeface="Noto Sans CJK SC"/>
                <a:ea typeface="Noto Sans CJK SC"/>
              </a:rPr>
              <a:t>验证／测试复用参数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拟定数据预处理方案</dc:title>
  <dc:subject>导师讨论用：数据清洗、分路处理、标注划分与标准化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