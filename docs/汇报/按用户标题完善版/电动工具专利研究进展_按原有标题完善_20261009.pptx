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3" r:id="rId6"/>
    <p:sldId id="274" r:id="rId7"/>
    <p:sldId id="271" r:id="rId8"/>
    <p:sldId id="270" r:id="rId9"/>
    <p:sldId id="269" r:id="rId10"/>
    <p:sldId id="272" r:id="rId11"/>
    <p:sldId id="268" r:id="rId12"/>
    <p:sldId id="275" r:id="rId13"/>
    <p:sldId id="267" r:id="rId14"/>
    <p:sldId id="266" r:id="rId15"/>
    <p:sldId id="265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这次汇报主要是梳理研究思路和讨论取舍。项目现在有文献与专利附件分析，也有电脑CPU和网页上的仿真研究原型。希望把已有技术、已经实现的内容和候选研究贡献分开，最后确认对象、数据和验证路线。</a:t>
            </a:r>
          </a:p>
          <a:p/>
          <a:p>
            <a:r>
              <a:t>来源与定位</a:t>
            </a:r>
          </a:p>
          <a:p>
            <a:r>
              <a:t>任务书；仓库README；导师讨论版初步查新稿与精简文献综述。</a:t>
            </a:r>
          </a:p>
          <a:p/>
          <a:p>
            <a:r>
              <a:t>说明与边界</a:t>
            </a:r>
          </a:p>
          <a:p>
            <a:r>
              <a:t>尚无真实电钻采集或硬件部署，不将仿真结果作为实测成绩。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前面先说背景与整体架构，再用文献和专利附件说明当前边界。随后讲数据与算法，展示Demo，最后讨论真实实验资源和研究取舍。第14、15页是备查，可按问题跳转。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任务书原来包括角磨机、电钻和电动扳手，以及不同核心部件。为了先完成一个可验证实施例，第一版收窄到电钻轴承。软件可以帮助研究数据到维护的链路，但真实工具是否达到精度、寿命和资源要求还需要单独实验。</a:t>
            </a:r>
          </a:p>
          <a:p/>
          <a:p>
            <a:r>
              <a:t>来源与定位</a:t>
            </a:r>
          </a:p>
          <a:p>
            <a:r>
              <a:t>发明专利研发任务书；docs/研发范围与验收.md；README。</a:t>
            </a:r>
          </a:p>
          <a:p/>
          <a:p>
            <a:r>
              <a:t>说明与边界</a:t>
            </a:r>
          </a:p>
          <a:p>
            <a:r>
              <a:t>任务书还提出算力下降70%等目标，现有仿真和量化没有证明该目标。3—7天自然日预警不能由有效运行小时直接换算。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上方是完整设想。输入先被检查并按照可比工况形成参考偏离量，然后融合并进行序列分析，输出当前状态和条件寿命区间，接入告警与维护记录。下方三项分清已实现、计划搭建和候选研究，避免把整体图当作所有模块已经验证。</a:t>
            </a:r>
          </a:p>
          <a:p/>
          <a:p>
            <a:r>
              <a:t>来源与定位</a:t>
            </a:r>
          </a:p>
          <a:p>
            <a:r>
              <a:t>docs/系统架构.md；predictive/preprocessing.py、model.py、pipeline.py、alarms.py、store.py。</a:t>
            </a:r>
          </a:p>
          <a:p/>
          <a:p>
            <a:r>
              <a:t>说明与边界</a:t>
            </a:r>
          </a:p>
          <a:p>
            <a:r>
              <a:t>运行时参考固定；维修后完整准入、训练、验收和版本回退尚未实现。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19份原始PDF合并一组重复电动机论文后为18项，即6份专利申请和12篇论文。现在已经做附件比较并形成查新讨论稿和综述。内部送审稿的14条是另一组待核验线索，不能算成已经阅读的原文。R1称涉及手电钻完整链路，R2至R4涉及寿命、分级和维护后调整，应该优先取得全文。</a:t>
            </a:r>
          </a:p>
          <a:p/>
          <a:p>
            <a:r>
              <a:t>来源与定位</a:t>
            </a:r>
          </a:p>
          <a:p>
            <a:r>
              <a:t>P1 CN121385628A，PDF2—3页权利要求1、8—10及说明书；L2 古玉锋等，PDF1—4、7—9页；L5 张帆等，PDF1—8页。R1—R4来自送审稿第六部分。</a:t>
            </a:r>
          </a:p>
          <a:p/>
          <a:p>
            <a:r>
              <a:t>说明与边界</a:t>
            </a:r>
          </a:p>
          <a:p>
            <a:r>
              <a:t>6个A号均为申请公开文本，非已授权证明。古玉锋的“残差”指网络结构，不能与Demo的条件健康特征残差等同。R线索尚未独立核验题录、原文或法律状态。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已有方法提供融合、工况适应和时序学习基础。这里讨论的是把它们用到电钻时，需要验证的可靠性问题。尤其如果质量控制简单降低大幅冲击的权重，可能抑制真实故障；如果维修后仅凭工单或模型低风险重学参考，也可能把残余故障吸收成正常。</a:t>
            </a:r>
          </a:p>
          <a:p/>
          <a:p>
            <a:r>
              <a:t>来源与定位</a:t>
            </a:r>
          </a:p>
          <a:p>
            <a:r>
              <a:t>P1/P2/P3附件对比；古玉锋、Guo、Li、张帆等论文；初步查新讨论稿。</a:t>
            </a:r>
          </a:p>
          <a:p/>
          <a:p>
            <a:r>
              <a:t>说明与边界</a:t>
            </a:r>
          </a:p>
          <a:p>
            <a:r>
              <a:t>不能泛称现有研究没有跨工况或跨设备验证。张帆同轴承前95%/后5%的设置只说明其所测任务，与独立新工具验证不同。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目前一分钟一步的是模拟特征，而不是把真实加速度波形直接输入网络。六个特征分属振动、电流、温度，同时记录转速、独立模拟负载和环境温度。参考只在训练集中磨损小于0.15且三通道质量大于0.9的模拟健康数据上拟合；运行时固定。真实采集短窗、单位和质量标志需要重新定义与拟合。</a:t>
            </a:r>
          </a:p>
          <a:p/>
          <a:p>
            <a:r>
              <a:t>来源与定位</a:t>
            </a:r>
          </a:p>
          <a:p>
            <a:r>
              <a:t>predictive/data.py、signals.py、preprocessing.py、pipeline.py；artifacts/experiment_results.json。</a:t>
            </a:r>
          </a:p>
          <a:p/>
          <a:p>
            <a:r>
              <a:t>说明与边界</a:t>
            </a:r>
          </a:p>
          <a:p>
            <a:r>
              <a:t>按设备划分21/6/3。序列不跨设备、运行段、时间缺口、全缺失和未知工况。459条测试序列时间重叠，不是459次独立实验。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三个通道各有两个输入，经线性层和GELU编码为32维。由质量与工况得到学习门控，再乘质量归一化，同时加入工况/质量上下文。16步历史经过一层32维2头Transformer和一层32维LSTM，从末步状态输出分类、HI和三个寿命分位数。结构本身已有研究基础，是否需要组合网络必须与纯LSTM等对照。</a:t>
            </a:r>
          </a:p>
          <a:p/>
          <a:p>
            <a:r>
              <a:t>来源与定位</a:t>
            </a:r>
          </a:p>
          <a:p>
            <a:r>
              <a:t>predictive/model.py；preprocessing.py；train.py；公式见第14页。</a:t>
            </a:r>
          </a:p>
          <a:p/>
          <a:p>
            <a:r>
              <a:t>说明与边界</a:t>
            </a:r>
          </a:p>
          <a:p>
            <a:r>
              <a:t>风险=1−HI，不是校准故障概率。RUL区间排序不保证覆盖校准，也不代表自然日预警。实际fixed_fusion分支为可用通道等权，但仍保留质量上下文；这与早期材料的文字解释不同。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左栏说明一般构件有文献和专利附件基础。中栏是已经在软件实现的内容，不能将已实现直接当作已证明创新。右栏是下一轮候选研发：退化证据可以用，不代表它能进入健康参考学习；维修后还需独立检查和可比工况验证。建议先聚焦准入，维修参考恢复作为延伸。</a:t>
            </a:r>
          </a:p>
          <a:p/>
          <a:p>
            <a:r>
              <a:t>来源与定位</a:t>
            </a:r>
          </a:p>
          <a:p>
            <a:r>
              <a:t>P1 CN121385628A，权利要求8—10及重标定段；P2 CN121432174A，权利要求5；L2/L5；R4送审稿线索待核验；创新边界分析与最新讨论稿。</a:t>
            </a:r>
          </a:p>
          <a:p/>
          <a:p>
            <a:r>
              <a:t>说明与边界</a:t>
            </a:r>
          </a:p>
          <a:p>
            <a:r>
              <a:t>负载跳变目前只处理报警累计，不等于完整暂态历史隔离。维修后参考更新、候选验收及版本回退尚未实现。是否把两项放在同一方案取决于必要技术耦合，不应只为了增加区别而堆砌。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这是实际运行的Streamlit页面截图，数据源为模拟，seed=123，设备DRILL-002。页面显示高风险和13%的HI，条件模拟寿命区间为0.08—0.33运行小时。这里的13%不是剩余寿命百分比，截图也不是在线连接实物。软件还支持告警合并、工单、维修记录与新运行段复测。可以现场打开 app.py 展示。</a:t>
            </a:r>
          </a:p>
          <a:p/>
          <a:p>
            <a:r>
              <a:t>来源与定位</a:t>
            </a:r>
          </a:p>
          <a:p>
            <a:r>
              <a:t>真实网页截图：presentation_work/final/demo_health.png；app.py；predictive/alarms.py、store.py。</a:t>
            </a:r>
          </a:p>
          <a:p/>
          <a:p>
            <a:r>
              <a:t>说明与边界</a:t>
            </a:r>
          </a:p>
          <a:p>
            <a:r>
              <a:t>当前复测用专门配置的仿真样例，并非真实维修成功证明。复测满足同设备、新运行段、连续5个有效低风险且负载稳定结果；标签仍待人工审核，健康基线固定。截图属于展示，不是独立测试成绩。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先借用IEPE加速度计、隔离霍尔、热电偶、转速与扭矩台架及同步DAQ。振动和电流初选25.6kS/s，但要按传感器、故障频带、驱动PWM及抗混叠核验；温度初选1—10Hz按窗口对齐。独立转速与扭矩参考有助于判断过度工况校正。若电钻难拆检或难获得负载与标签，先可换轴承台架验证机制，再做电钻迁移。</a:t>
            </a:r>
          </a:p>
          <a:p/>
          <a:p>
            <a:r>
              <a:t>来源与定位</a:t>
            </a:r>
          </a:p>
          <a:p>
            <a:r>
              <a:t>docs/汇报/研究梳理版/硬件选型与实验平台初步方案_20261009.md。</a:t>
            </a:r>
          </a:p>
          <a:p/>
          <a:p>
            <a:r>
              <a:t>说明与边界</a:t>
            </a:r>
          </a:p>
          <a:p>
            <a:r>
              <a:t>自建备选：ADXL1002、ACS758系列、MAX31856、AD7606B＋STM32H743，仅为候选，未核验当前手册、采购或实测。需调理、固件和同步。机械链额定转速/扭矩、旋转防护、停止控制和对中在试验前确认。标签优先拆检或独立测量；先按设备/部件分组再切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现在最欠缺的不是再加入更多网络模块，而是明确第一实施例、独立标签和验证条件。这里希望老师给出资源与范围建议：能否拆检电钻、是否有同步DAQ和负载装置，是否具备真实寿命轨迹。创新方向也应等直接近邻取得原文后再收窄。</a:t>
            </a:r>
          </a:p>
          <a:p/>
          <a:p>
            <a:r>
              <a:t>来源与定位</a:t>
            </a:r>
          </a:p>
          <a:p>
            <a:r>
              <a:t>最新初步查新讨论稿第七部分；硬件平台方案第九部分。</a:t>
            </a:r>
          </a:p>
          <a:p/>
          <a:p>
            <a:r>
              <a:t>说明与边界</a:t>
            </a:r>
          </a:p>
          <a:p>
            <a:r>
              <a:t>这些是讨论选择，不把未获得的设备、数据、预算和时间计划写成已确定。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已有文献和仿真链路让我看到，任务书需要从一般功能收窄成具体技术问题。下一步先确认最直接原文和实验对象，再把工况与质量准入写成明确条件及状态变化，通过同模型消融看是否改善，然后接入真实采集。最终技术交底应把已经实现、拟实现和证据支持分开写。</a:t>
            </a:r>
          </a:p>
          <a:p/>
          <a:p>
            <a:r>
              <a:t>来源与定位</a:t>
            </a:r>
          </a:p>
          <a:p>
            <a:r>
              <a:t>查新讨论稿、精简综述、硬件平台方案。</a:t>
            </a:r>
          </a:p>
          <a:p/>
          <a:p>
            <a:r>
              <a:t>说明与边界</a:t>
            </a:r>
          </a:p>
          <a:p>
            <a:r>
              <a:t>这里是优先顺序，不预设老师已批准硬件采购、实验安排或专利申请。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条件参考的设计向量为[1,load,rpm/10000,ambient/30]，在健康高质量训练数据上最小二乘拟合；尺度为该数据残差标准差并设下限。三个通道编码为32维，门控由工况与质量产生，乘质量归一化；另加上下文与位置编码。模型对每个完整历史序列重新计算，不保留跨窗口长期LSTM隐状态。</a:t>
            </a:r>
          </a:p>
          <a:p/>
          <a:p>
            <a:r>
              <a:t>来源与定位</a:t>
            </a:r>
          </a:p>
          <a:p>
            <a:r>
              <a:t>predictive/preprocessing.py: ConditionBaseline；predictive/model.py: MaintenanceModel.forward、multitask_loss。</a:t>
            </a:r>
          </a:p>
          <a:p/>
          <a:p>
            <a:r>
              <a:t>说明与边界</a:t>
            </a:r>
          </a:p>
          <a:p>
            <a:r>
              <a:t>预测窗口任一质量&lt;0.5抑制RUL；全缺失、未知工况、历史不足不推理。此页是算法解释，没有声称组合网络优于简单模型；参考更新机制仍未实现。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准确率是四个模拟磨损阶段，不是现场故障精度。RUL标签来自模拟失效终点，MAE单位为有效运行小时。纯LSTM同准确率、RUL误差略小且参数更少，说明增加网络模块的必要性还没有被这批结果支持。去工况校正的结果提示健康参考值得继续验证，但模拟公式显式包含工况效应，不能外推真实工具。</a:t>
            </a:r>
          </a:p>
          <a:p/>
          <a:p>
            <a:r>
              <a:t>来源与定位</a:t>
            </a:r>
          </a:p>
          <a:p>
            <a:r>
              <a:t>artifacts/experiment_results.json；predictive/train.py、model.py；公开基础：P1/P2/L2/L5；新增R1—R4仅为送审稿待核验线索。</a:t>
            </a:r>
          </a:p>
          <a:p/>
          <a:p>
            <a:r>
              <a:t>说明与边界</a:t>
            </a:r>
          </a:p>
          <a:p>
            <a:r>
              <a:t>单随机种子，3台独立虚拟测试设备，459相关窗口序列。前向P95约0.685ms不含采集/特征/存储/通信。LSTM动态INT8仅减小权重存储，未证明70%算力下降。源码fixed_fusion是可用通道等权并保留质量上下文；早期文字的“去质量幅值但保留学习门控”解释有误，本PPT省略该消融，以实际源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3232" y="1097280"/>
            <a:ext cx="10789920" cy="109728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AI预测性维护电动工具运维系统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10515600" cy="5486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0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专利研究进展与技术方案讨论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45536"/>
            <a:ext cx="1051560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第一对象：电钻轴承  |  当前平台：电脑 CPU＋Python 网页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995928"/>
            <a:ext cx="10643616" cy="123444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242816"/>
            <a:ext cx="10149840" cy="7315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围绕三个问题展开：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已有技术做到哪一步？当前 Demo 说明了什么？下一步研究什么？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97296"/>
            <a:ext cx="10515600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阶段：文献梳理＋软件仿真原型   ·   2026年10月9日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正文按你的标题展开；公式和实验数字放在末尾备查。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594360" cy="56692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773936"/>
            <a:ext cx="429768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19072"/>
            <a:ext cx="4617720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背景与总体架构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773936"/>
            <a:ext cx="4480560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为什么做、系统要解决什么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472" y="1755648"/>
            <a:ext cx="731520" cy="34747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03—04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96312"/>
            <a:ext cx="594360" cy="56692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587752"/>
            <a:ext cx="429768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532888"/>
            <a:ext cx="4617720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查新进展与技术痛点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587752"/>
            <a:ext cx="4480560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看已有方案，找到需验证的问题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4472" y="2569464"/>
            <a:ext cx="731520" cy="34747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05—06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10128"/>
            <a:ext cx="594360" cy="56692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401568"/>
            <a:ext cx="429768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346704"/>
            <a:ext cx="4617720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数据、算法与创新边界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4480560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说明 Demo 技术，确定候选贡献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4472" y="3383280"/>
            <a:ext cx="731520" cy="34747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07—09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23944"/>
            <a:ext cx="594360" cy="56692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4215383"/>
            <a:ext cx="429768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160520"/>
            <a:ext cx="4617720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Demo 与实验平台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215383"/>
            <a:ext cx="4480560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展示已跑通链路和真实采集计划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4197096"/>
            <a:ext cx="731520" cy="34747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10—11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37760"/>
            <a:ext cx="594360" cy="56692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029200"/>
            <a:ext cx="429768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974336"/>
            <a:ext cx="4617720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问题与下一步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029200"/>
            <a:ext cx="4480560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请老师帮助确认范围、资源和验证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4472" y="5010912"/>
            <a:ext cx="731520" cy="34747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12—13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目标是根据实际状态安排维护，而不是仅按固定周期或故障后维修。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493008" cy="3419856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50292" cy="3236976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56232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使用场景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2374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2523744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启停、变速、负载变化频繁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3436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343656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振动、电流、温升同时变化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16356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4163568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区分工况变化与部件退化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691640"/>
            <a:ext cx="3493008" cy="3419856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1783080"/>
            <a:ext cx="50292" cy="3236976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856232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任务书设想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52374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523744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多源感知与工况处理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3436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3343656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状态、健康与寿命估计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16356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163568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分级提醒和维护记录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0727" y="1691640"/>
            <a:ext cx="3493008" cy="3419856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1783080"/>
            <a:ext cx="50292" cy="3236976"/>
          </a:xfrm>
          <a:prstGeom prst="rect">
            <a:avLst/>
          </a:prstGeom>
          <a:solidFill>
            <a:srgbClr val="A8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1856232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当前研究范围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52374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2523744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先聚焦电钻轴承磨损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3436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3343656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CPU＋网页仿真原型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416356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4163568"/>
            <a:ext cx="2871215" cy="765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真实采集和标签尚待建立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586984"/>
            <a:ext cx="11000232" cy="658368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5650992"/>
            <a:ext cx="10652760" cy="56692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任务书指标是待验证目标：识别≥92%、寿命误差≤15%、MCU≤100 ms、提前3—7天提醒。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技术方案的整体架构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整体方案：从观测到维护；当前已跑通的是仿真软件链路。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951329" cy="192024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1713585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多源输入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677009" cy="103327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振动／电流／温度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转速／负载／环境</a:t>
            </a:r>
          </a:p>
        </p:txBody>
      </p:sp>
      <p:sp>
        <p:nvSpPr>
          <p:cNvPr id="11" name="Chevron 10"/>
          <p:cNvSpPr/>
          <p:nvPr/>
        </p:nvSpPr>
        <p:spPr>
          <a:xfrm>
            <a:off x="2577693" y="2560320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6585" y="1737360"/>
            <a:ext cx="1951329" cy="192024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5457" y="1920240"/>
            <a:ext cx="1713585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工况与质量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3745" y="2514600"/>
            <a:ext cx="1677009" cy="103327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时间与有效性检查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条件健康参考</a:t>
            </a:r>
          </a:p>
        </p:txBody>
      </p:sp>
      <p:sp>
        <p:nvSpPr>
          <p:cNvPr id="15" name="Chevron 14"/>
          <p:cNvSpPr/>
          <p:nvPr/>
        </p:nvSpPr>
        <p:spPr>
          <a:xfrm>
            <a:off x="4839919" y="2560320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8811" y="1737360"/>
            <a:ext cx="1951329" cy="192024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7683" y="1920240"/>
            <a:ext cx="1713585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融合与时序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971" y="2514600"/>
            <a:ext cx="1677009" cy="103327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质量约束融合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Transformer–LSTM</a:t>
            </a:r>
          </a:p>
        </p:txBody>
      </p:sp>
      <p:sp>
        <p:nvSpPr>
          <p:cNvPr id="19" name="Chevron 18"/>
          <p:cNvSpPr/>
          <p:nvPr/>
        </p:nvSpPr>
        <p:spPr>
          <a:xfrm>
            <a:off x="7102144" y="2560320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81036" y="1737360"/>
            <a:ext cx="1951329" cy="192024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9908" y="1920240"/>
            <a:ext cx="1713585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状态与寿命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196" y="2514600"/>
            <a:ext cx="1677009" cy="103327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磨损阶段／HI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条件 RUL 区间</a:t>
            </a:r>
          </a:p>
        </p:txBody>
      </p:sp>
      <p:sp>
        <p:nvSpPr>
          <p:cNvPr id="23" name="Chevron 22"/>
          <p:cNvSpPr/>
          <p:nvPr/>
        </p:nvSpPr>
        <p:spPr>
          <a:xfrm>
            <a:off x="9364370" y="2560320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3262" y="1737360"/>
            <a:ext cx="1951329" cy="192024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2134" y="1920240"/>
            <a:ext cx="1713585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维护闭环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0422" y="2514600"/>
            <a:ext cx="1677009" cy="103327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告警／工单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维修记录／复测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078224"/>
            <a:ext cx="3493008" cy="1389888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" y="4169663"/>
            <a:ext cx="50292" cy="1207008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242816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已实现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91032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4910328"/>
            <a:ext cx="2871215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仿真预测＋网页维护链路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2544" y="4078224"/>
            <a:ext cx="3493008" cy="1389888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9976" y="4169663"/>
            <a:ext cx="50292" cy="1207008"/>
          </a:xfrm>
          <a:prstGeom prst="rect">
            <a:avLst/>
          </a:prstGeom>
          <a:solidFill>
            <a:srgbClr val="617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4242816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拟搭建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91032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4910328"/>
            <a:ext cx="2871215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真实同步采集＋独立标签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0727" y="4078224"/>
            <a:ext cx="3493008" cy="1389888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59" y="4169663"/>
            <a:ext cx="50292" cy="1207008"/>
          </a:xfrm>
          <a:prstGeom prst="rect">
            <a:avLst/>
          </a:prstGeom>
          <a:solidFill>
            <a:srgbClr val="A8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4242816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候选研究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491032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4910328"/>
            <a:ext cx="2871215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证据准入＋维修后参考受控恢复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806440"/>
            <a:ext cx="11000232" cy="466344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5870448"/>
            <a:ext cx="10652760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网页承担 APP 原型展示；传感器、MCU 和原生手机 APP 属于后续扩展。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查新与文献梳理进展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已有附件支持技术比对；新增送审稿线索安排下一轮核验。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64208"/>
            <a:ext cx="3493008" cy="1133856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585216" cy="6035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810512"/>
            <a:ext cx="2432304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专利申请公开文本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231136"/>
            <a:ext cx="2432304" cy="30175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原文已用于权利要求比较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64208"/>
            <a:ext cx="3493008" cy="1133856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10512"/>
            <a:ext cx="585216" cy="6035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810512"/>
            <a:ext cx="2432304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去重论文／学位论文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31136"/>
            <a:ext cx="2432304" cy="30175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已形成主题综述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1664208"/>
            <a:ext cx="3493008" cy="1133856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10512"/>
            <a:ext cx="585216" cy="6035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1810512"/>
            <a:ext cx="2432304" cy="32004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新增待核验线索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231136"/>
            <a:ext cx="2432304" cy="30175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来自内部送审稿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94360" y="3145536"/>
          <a:ext cx="11000231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096"/>
                <a:gridCol w="3931920"/>
                <a:gridCol w="4014215"/>
              </a:tblGrid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已有原文近邻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已覆盖的基础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对本项目的启示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P1：电机多源诊断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负载健康参考、持续报警、重标定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需比较具体规则，不能只写“加工况”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L2：电动机残差注意力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异构传感器、分支与注意力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普通注意力与采集质量不能混同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L5：轴承 Transformer–LSTM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组合时序网络与寿命趋势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网络名称组合已有研究基础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94360" y="5916168"/>
            <a:ext cx="11000232" cy="429768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980176"/>
            <a:ext cx="10652760" cy="33832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下一步：优先核验同为电动工具的 R1—R4；当前尚未完成全面数据库查新。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现有技术的痛点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从电钻使用场景提出待验证问题；不把它们概括为所有现有技术的缺陷。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82496"/>
            <a:ext cx="5358384" cy="1810512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773936"/>
            <a:ext cx="50292" cy="1627632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4974336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工况变化与磨损混淆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14600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2514600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启停、转速和负载变化也改变信号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93979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2939796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校正后要检查真实故障证据是否保留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682496"/>
            <a:ext cx="5358384" cy="1810512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773936"/>
            <a:ext cx="50292" cy="162763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847088"/>
            <a:ext cx="4974336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观测异常与机器故障混淆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514600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514600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缺失、饱和、安装变化影响采集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93979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939796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注意力重要性不能替代质量判断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5358384" cy="1810512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822191"/>
            <a:ext cx="50292" cy="1627632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895344"/>
            <a:ext cx="4974336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仿真表现不能外推新工具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5628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562856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单轨迹或模拟标签不代表真实泛化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988052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4988052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需要独立工具、未见负载和损伤标签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730752"/>
            <a:ext cx="5358384" cy="1810512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822191"/>
            <a:ext cx="50292" cy="1627632"/>
          </a:xfrm>
          <a:prstGeom prst="rect">
            <a:avLst/>
          </a:prstGeom>
          <a:solidFill>
            <a:srgbClr val="A8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3895344"/>
            <a:ext cx="4974336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维修完成与恢复健康不等同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45628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562856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需可比工况复测和独立检查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4988052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4988052"/>
            <a:ext cx="4736592" cy="3703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参考更新不能吸收未修复的故障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897880"/>
            <a:ext cx="11000232" cy="466344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961888"/>
            <a:ext cx="10652760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研究效果要共同评价：误报、故障召回、可用覆盖率与检出延迟。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数据采集与预处理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当前是模拟窗口特征；真实波形采集是下一阶段工作。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27632"/>
            <a:ext cx="5166360" cy="39319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Demo 现在的数据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57984"/>
            <a:ext cx="5120640" cy="48463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30 台虚拟电钻 × 200 个一分钟窗口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共 6000 个窗口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2871216"/>
          <a:ext cx="510235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21408"/>
                <a:gridCol w="2066543"/>
              </a:tblGrid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通道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输入特征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振动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RMS、峭度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幅值与冲击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电流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RMS、纹波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电气与负载变化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温度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温升、温升斜率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热水平与趋势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" y="5074920"/>
            <a:ext cx="5074920" cy="56692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工况：转速、独立模拟负载、环境温度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质量：每通道一个分数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627632"/>
            <a:ext cx="5532120" cy="422452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828800"/>
            <a:ext cx="5047488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处理路线与技术作用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8716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487168"/>
            <a:ext cx="4745736" cy="64922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健康训练数据拟合条件参考，计算偏离量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912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3191256"/>
            <a:ext cx="4745736" cy="64922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缺失通道屏蔽；工况超范围暂停预测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9534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895344"/>
            <a:ext cx="4745736" cy="64922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同设备、同运行段组成 16 步历史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99432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599432"/>
            <a:ext cx="4745736" cy="64922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拟接真实波形：同步→因果处理→特征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934456"/>
            <a:ext cx="11000232" cy="438912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998464"/>
            <a:ext cx="10652760" cy="34747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现有波形辅助函数含平滑、去均值、Hann 窗 FFT；尚未连接真实采集，新时间尺度需重训。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算法研发与改进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先明确每一步的技术作用，再用相同数据和评价比较改进。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28216"/>
            <a:ext cx="2516886" cy="182880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11095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① 条件校正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05456"/>
            <a:ext cx="2242566" cy="94183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同工况健康预期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特征残差标准化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3250" y="25054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2141" y="1728216"/>
            <a:ext cx="2516886" cy="182880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013" y="1911095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② 质量融合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301" y="2505456"/>
            <a:ext cx="2242566" cy="94183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三分支各 32 维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质量约束门控</a:t>
            </a:r>
          </a:p>
        </p:txBody>
      </p:sp>
      <p:sp>
        <p:nvSpPr>
          <p:cNvPr id="15" name="Chevron 14"/>
          <p:cNvSpPr/>
          <p:nvPr/>
        </p:nvSpPr>
        <p:spPr>
          <a:xfrm>
            <a:off x="5971031" y="25054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9924" y="1728216"/>
            <a:ext cx="2516886" cy="182880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911095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③ 时序建模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7084" y="2505456"/>
            <a:ext cx="2242566" cy="94183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16 步历史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Transformer＋LSTM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8814" y="25054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7706" y="1728216"/>
            <a:ext cx="2516886" cy="182880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78" y="1911095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④ 多任务输出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4866" y="2505456"/>
            <a:ext cx="2242566" cy="941831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四类阶段／HI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RUL 10/50/90%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941063"/>
            <a:ext cx="5358384" cy="1609344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032503"/>
            <a:ext cx="50292" cy="1426464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105655"/>
            <a:ext cx="4974336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现有算法的作用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77316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3" y="4773168"/>
            <a:ext cx="4736592" cy="2697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校正工况干扰，融合有效通道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097779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097779"/>
            <a:ext cx="4736592" cy="2697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结合近期序列判断状态与趋势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3941063"/>
            <a:ext cx="5358384" cy="1609344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4032503"/>
            <a:ext cx="50292" cy="1426464"/>
          </a:xfrm>
          <a:prstGeom prst="rect">
            <a:avLst/>
          </a:prstGeom>
          <a:solidFill>
            <a:srgbClr val="A8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1" y="4105655"/>
            <a:ext cx="4974336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下一步怎样改进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477316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4773168"/>
            <a:ext cx="4736592" cy="2697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以纯 LSTM 等简单模型建立对照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5097779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5097779"/>
            <a:ext cx="4736592" cy="2697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逐项验证质量／工况证据准入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916168"/>
            <a:ext cx="11000232" cy="42976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5980176"/>
            <a:ext cx="10652760" cy="33832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训练损失：分类交叉熵＋HI 均方误差＋RUL 分位数损失；HI 是状态分数，RUL 单位是运行小时。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创新边界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把技术基础、实现进度与拟研究贡献分清楚。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09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19072"/>
            <a:ext cx="3493008" cy="3794760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810512"/>
            <a:ext cx="50292" cy="3611880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83664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已有公开基础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5117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255117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工况参考与负载分离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5983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25983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多源分支及普通注意力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96849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96849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Transformer–LSTM 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6771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467715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持续报警与基线重标定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1719072"/>
            <a:ext cx="3493008" cy="3794760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9976" y="1810512"/>
            <a:ext cx="50292" cy="361188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883664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当前 Demo 已实现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55117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55117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固定条件参考与偏离量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25983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325983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质量约束融合及时序输出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96849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96849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跨设备／运行段／缺口隔离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6771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467715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工单、新运行段、模拟复测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1719072"/>
            <a:ext cx="3493008" cy="3794760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59" y="1810512"/>
            <a:ext cx="50292" cy="3611880"/>
          </a:xfrm>
          <a:prstGeom prst="rect">
            <a:avLst/>
          </a:prstGeom>
          <a:solidFill>
            <a:srgbClr val="A8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1883664"/>
            <a:ext cx="3108960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候选研究方向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255117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255117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工况＋质量共同控制准入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25983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325983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暂态与恢复时的证据处理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396849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2" y="396849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维修后独立健康确认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467715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2" y="4677156"/>
            <a:ext cx="2871215" cy="6537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参考验证、启用与回退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879592"/>
            <a:ext cx="11000232" cy="466344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943600"/>
            <a:ext cx="10652760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主要贡献需要落到具体条件、协作关系和可重复技术效果；候选方向仍需补查与实验。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实验验证Demo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已运行的网页界面：展示状态，串起告警与模拟维修复测。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10 / 15</a:t>
            </a:r>
          </a:p>
        </p:txBody>
      </p:sp>
      <p:pic>
        <p:nvPicPr>
          <p:cNvPr id="8" name="Picture 7" descr="demo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45920"/>
            <a:ext cx="6144768" cy="46085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645920"/>
            <a:ext cx="6144768" cy="18288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1691640"/>
            <a:ext cx="4553712" cy="1261872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68312" y="1783080"/>
            <a:ext cx="50292" cy="1078992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1856232"/>
            <a:ext cx="4169664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状态展示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52374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504" y="2523744"/>
            <a:ext cx="3931920" cy="24688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历史、健康指数、模拟 RUL 小时区间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200400"/>
            <a:ext cx="4553712" cy="1389888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68312" y="3291840"/>
            <a:ext cx="50292" cy="120700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3364992"/>
            <a:ext cx="4169664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维护闭环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403250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4032504"/>
            <a:ext cx="3931920" cy="1600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告警→工单→维修记录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247388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4247388"/>
            <a:ext cx="3931920" cy="1600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新运行段→模拟复测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828032"/>
            <a:ext cx="4553712" cy="1362456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68312" y="4919472"/>
            <a:ext cx="50292" cy="1179576"/>
          </a:xfrm>
          <a:prstGeom prst="rect">
            <a:avLst/>
          </a:prstGeom>
          <a:solidFill>
            <a:srgbClr val="A8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4992624"/>
            <a:ext cx="4169664" cy="45720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A86A16"/>
                </a:solidFill>
                <a:latin typeface="Noto Sans CJK SC"/>
                <a:ea typeface="Noto Sans CJK SC"/>
                <a:cs typeface="Noto Sans CJK SC"/>
              </a:rPr>
              <a:t>Demo 带来的认识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5660136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5660136"/>
            <a:ext cx="3931920" cy="146303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链路可运行；效果需要真实标签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861304"/>
            <a:ext cx="137160" cy="310896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5861304"/>
            <a:ext cx="3931920" cy="146303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基线更新仍是后续研究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实验平台搭建方案设计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状态：初步方案，尚未采购或搭建；优先复用实验室采集与负载设备。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64208"/>
            <a:ext cx="2516886" cy="1042415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2242566" cy="33832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电钻／可换轴承台架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3250" y="20482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2141" y="1664208"/>
            <a:ext cx="2516886" cy="1042415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013" y="1792224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301" y="2258568"/>
            <a:ext cx="2242566" cy="33832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传感器＋同步 DAQ</a:t>
            </a:r>
          </a:p>
        </p:txBody>
      </p:sp>
      <p:sp>
        <p:nvSpPr>
          <p:cNvPr id="15" name="Chevron 14"/>
          <p:cNvSpPr/>
          <p:nvPr/>
        </p:nvSpPr>
        <p:spPr>
          <a:xfrm>
            <a:off x="5971031" y="20482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9924" y="1664208"/>
            <a:ext cx="2516886" cy="1042415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792224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7084" y="2258568"/>
            <a:ext cx="2242566" cy="33832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Windows 电脑＋Python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8814" y="20482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7706" y="1664208"/>
            <a:ext cx="2516886" cy="1042415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78" y="1792224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4866" y="2258568"/>
            <a:ext cx="2242566" cy="33832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网页＋维修证据记录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94360" y="2980944"/>
          <a:ext cx="1100023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4754880"/>
                <a:gridCol w="4462272"/>
              </a:tblGrid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优先候选路线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需要核查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振动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IEPE 加速度计，靠近目标轴承刚性安装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频带、量程、调理与安装传递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电流／温度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隔离霍尔／K 型热电偶＋环境温度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启动电流、PWM、测点与响应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独立工况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光电转速／编码器＋扭矩与可控负载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目标轴速映射、负载证据和对中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同步采集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共时钟多通道 DAQ；先接现有电脑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高频通道初选25.6 kS/s；须核验带宽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94360" y="5833872"/>
            <a:ext cx="11000232" cy="512064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897880"/>
            <a:ext cx="10652760" cy="42062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采集顺序：健康与切换工况 → 确认损伤 → 独立工具验证；真实 RUL 等待完整退化与失效终点。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遇到的问题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把当前不确定性转成可回答的问题，便于老师帮助确定取舍。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12 /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709928"/>
          <a:ext cx="1100023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846320"/>
                <a:gridCol w="4416552"/>
              </a:tblGrid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问题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需要讨论的选择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希望获得的支持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对象与标签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轴承位置、损伤程度如何独立确认？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可拆检工具、缺陷部件与检查条件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寿命任务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先做状态／趋势，还是开展完整 RUL？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失效终点、持续试验与使用强度定义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创新主线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先做证据准入，还是同时做参考恢复？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最接近原文、必要技术特征与取舍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采集资源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借用同步 DAQ，还是自建采集板？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设备、预算和工期评估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验证尺度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能否获得多台工具及独立测试工况？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6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独立设备、留出工况和重复试验资源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6062472"/>
            <a:ext cx="11000232" cy="3200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6126480"/>
            <a:ext cx="10652760" cy="228599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优先核验送审稿的同对象方案，再决定保护范围；数量多不等于查新已经充分。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下一步计划与讨论结论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先把对象、机制与证据确定，再扩展寿命模型和边缘部署。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16886" cy="2084831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① 核验近邻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242566" cy="1197863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先查 R1—R4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补质量／暂态／维修参考</a:t>
            </a:r>
          </a:p>
        </p:txBody>
      </p:sp>
      <p:sp>
        <p:nvSpPr>
          <p:cNvPr id="11" name="Chevron 10"/>
          <p:cNvSpPr/>
          <p:nvPr/>
        </p:nvSpPr>
        <p:spPr>
          <a:xfrm>
            <a:off x="3143250" y="27340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2141" y="1828800"/>
            <a:ext cx="2516886" cy="2084831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013" y="2011680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② 定对象与标签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301" y="2606040"/>
            <a:ext cx="2242566" cy="1197863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电钻轴承优先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明确工况和损伤依据</a:t>
            </a:r>
          </a:p>
        </p:txBody>
      </p:sp>
      <p:sp>
        <p:nvSpPr>
          <p:cNvPr id="15" name="Chevron 14"/>
          <p:cNvSpPr/>
          <p:nvPr/>
        </p:nvSpPr>
        <p:spPr>
          <a:xfrm>
            <a:off x="5971031" y="27340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2516886" cy="2084831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2011680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③ 写机制与消融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7084" y="2606040"/>
            <a:ext cx="2242566" cy="1197863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定义准入与状态变化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保持同预测器可比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8814" y="2734056"/>
            <a:ext cx="246888" cy="274320"/>
          </a:xfrm>
          <a:prstGeom prst="chevron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7706" y="1828800"/>
            <a:ext cx="2516886" cy="2084831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 w="8890"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78" y="2011680"/>
            <a:ext cx="2279141" cy="41148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④ 真实采集验证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4866" y="2606040"/>
            <a:ext cx="2242566" cy="1197863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按工具留出测试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检查误报、召回、延迟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4498848"/>
            <a:ext cx="11000232" cy="1325880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18304"/>
            <a:ext cx="10469880" cy="384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今天希望初步确认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94376"/>
            <a:ext cx="10469880" cy="384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① 电钻轴承＋状态／趋势先行？    ② 准入机制为主，维修后参考恢复作延伸？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备查：Demo算法计算过程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公式对应当前代码，用于解释输入怎样变成状态与寿命输出。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682496"/>
            <a:ext cx="10972800" cy="1179576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828800"/>
            <a:ext cx="2770632" cy="39319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1  条件健康偏离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1783080"/>
            <a:ext cx="7562088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r = (x − μ(c)) /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276856"/>
            <a:ext cx="7589520" cy="52120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μ(c)：健康训练样本的线性参考；s：残差尺度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作用：把观测与同工况正常水平比较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044952"/>
            <a:ext cx="10972800" cy="1179576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191256"/>
            <a:ext cx="2770632" cy="39319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2  质量约束融合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145536"/>
            <a:ext cx="7562088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αₘ = qₘ exp(gₘ) / Σⱼ qⱼ exp(gⱼ)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639312"/>
            <a:ext cx="7589520" cy="52120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三通道特征编码后按 α 加权，另加工况／质量上下文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q=0 的通道不参与；注意力不是物理因果贡献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407408"/>
            <a:ext cx="10972800" cy="1179576"/>
          </a:xfrm>
          <a:prstGeom prst="roundRect">
            <a:avLst>
              <a:gd name="adj" fmla="val 6000"/>
            </a:avLst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553712"/>
            <a:ext cx="2770632" cy="39319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256894"/>
                </a:solidFill>
                <a:latin typeface="Noto Sans CJK SC"/>
                <a:ea typeface="Noto Sans CJK SC"/>
                <a:cs typeface="Noto Sans CJK SC"/>
              </a:rPr>
              <a:t>3  时序与多任务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507992"/>
            <a:ext cx="7562088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16 步 → Transformer → LSTM → 三个输出头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5001768"/>
            <a:ext cx="7589520" cy="521207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四类磨损阶段；HI=sigmoid；RUL=排序 softplus 三分位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243E50"/>
                </a:solidFill>
                <a:latin typeface="Noto Sans CJK SC"/>
                <a:ea typeface="Noto Sans CJK SC"/>
                <a:cs typeface="Noto Sans CJK SC"/>
              </a:rPr>
              <a:t>损失：交叉熵＋HI MSE＋RUL pinball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888736"/>
            <a:ext cx="11000232" cy="466344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952744"/>
            <a:ext cx="10652760" cy="374904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参考运行时固定；risk = 1−HI 不是故障概率；RUL 条件区间的可靠性仍需真实校准。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393192"/>
            <a:ext cx="11018520" cy="685800"/>
          </a:xfrm>
        </p:spPr>
        <p:txBody>
          <a:bodyPr lIns="0" rIns="0" tIns="0" bIns="0" wrap="square"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5334A"/>
                </a:solidFill>
                <a:latin typeface="Noto Sans CJK SC"/>
                <a:ea typeface="Noto Sans CJK SC"/>
                <a:cs typeface="Noto Sans CJK SC"/>
              </a:rPr>
              <a:t>备查：仿真对照结果与证据来源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1000232" cy="36576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同一批仿真资料下比较；当前结果不能外推真实工具或自然日寿命。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8229"/>
          </a:xfrm>
          <a:prstGeom prst="rect">
            <a:avLst/>
          </a:prstGeom>
          <a:solidFill>
            <a:srgbClr val="D4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9966960" cy="21031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电钻轴承 · 专利研究与技术方案讨论 · 2026.10.09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822960" cy="274320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15 /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773936"/>
          <a:ext cx="1100023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70632"/>
                <a:gridCol w="4023360"/>
              </a:tblGrid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四分类准确率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RUL MAE／参数量</a:t>
                      </a:r>
                    </a:p>
                  </a:txBody>
                  <a:tcPr marL="118872" marR="109728" marT="54864" marB="36576" anchor="ctr">
                    <a:solidFill>
                      <a:srgbClr val="25689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Transformer–LSTM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95.64%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0.1633 h ／ 17,789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纯 LSTM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95.64%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0.1546 h ／ 9,245</a:t>
                      </a:r>
                    </a:p>
                  </a:txBody>
                  <a:tcPr marL="118872" marR="109728" marT="54864" marB="36576" anchor="ctr">
                    <a:solidFill>
                      <a:srgbClr val="F3F6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去工况参考校正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82.35%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sz="1900" b="0">
                          <a:solidFill>
                            <a:srgbClr val="243E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0.2264 h ／ 17,789</a:t>
                      </a:r>
                    </a:p>
                  </a:txBody>
                  <a:tcPr marL="118872" marR="109728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846320"/>
            <a:ext cx="10561320" cy="384048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147E84"/>
                </a:solidFill>
                <a:latin typeface="Noto Sans CJK SC"/>
                <a:ea typeface="Noto Sans CJK SC"/>
                <a:cs typeface="Noto Sans CJK SC"/>
              </a:rPr>
              <a:t>仿真支持继续研究工况参考；目前没有证明组合模型优于更简单的 LSTM。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440680"/>
            <a:ext cx="10515600" cy="621792"/>
          </a:xfrm>
          <a:prstGeom prst="rect">
            <a:avLst/>
          </a:prstGeom>
          <a:noFill/>
        </p:spPr>
        <p:txBody>
          <a:bodyPr wrap="square" lIns="9144" rIns="9144" tIns="18288" bIns="9144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seed=42；21/6/3 台虚拟设备划分；测试仅3台，459条序列有重叠。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617584"/>
                </a:solidFill>
                <a:latin typeface="Noto Sans CJK SC"/>
                <a:ea typeface="Noto Sans CJK SC"/>
                <a:cs typeface="Noto Sans CJK SC"/>
              </a:rPr>
              <a:t>另：INT8权重文件缩小29.42%，当前CPU前向未加速。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WPS 演示</Application>
  <PresentationFormat>宽屏</PresentationFormat>
  <Paragraphs>22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AI预测性维护电动工具运维系统：按用户标题完善的导师讨论PPT</dc:title>
  <dc:creator>项目研究资料整理</dc:creator>
  <cp:lastModifiedBy>微信用户</cp:lastModifiedBy>
  <cp:revision>5</cp:revision>
  <dcterms:created xsi:type="dcterms:W3CDTF">2023-08-09T12:44:00Z</dcterms:created>
  <dcterms:modified xsi:type="dcterms:W3CDTF">2026-10-08T16:40:41Z</dcterms:modified>
  <dc:subject>研究进展、创新边界、仿真Demo与实验平台计划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B9F2FB83321145E3BB1E333A1C587A18_12</vt:lpwstr>
  </property>
</Properties>
</file>